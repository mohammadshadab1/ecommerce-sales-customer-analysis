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5F9"/>
    <a:srgbClr val="FFFEFB"/>
    <a:srgbClr val="FFF7E1"/>
    <a:srgbClr val="6699FF"/>
    <a:srgbClr val="0F172A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66" autoAdjust="0"/>
    <p:restoredTop sz="91738" autoAdjust="0"/>
  </p:normalViewPr>
  <p:slideViewPr>
    <p:cSldViewPr snapToGrid="0">
      <p:cViewPr varScale="1">
        <p:scale>
          <a:sx n="54" d="100"/>
          <a:sy n="54" d="100"/>
        </p:scale>
        <p:origin x="948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442B-6110-8015-040E-903686AA2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B07662-36DE-1F39-F4DF-6DEFD895E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6CF5C-7C5E-3295-5C45-BD158E48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00458-D69B-2DE6-65B8-BDD06DF4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AA0BC-7D10-41D8-C2C1-A554F514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7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1C38-E0D2-BC3E-F3A4-6939EB86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99C2-D31D-6BD7-9E47-84241BE31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4D2C0-BA4B-B3DF-31A2-AA8350F3C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989B4-DE47-0036-FB43-4333496F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C4A11-25FE-0DCE-6FB4-51443C9B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0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80527-BFA6-9C4E-053D-732665AD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1C4A8-9732-3A98-F114-C0812F6D4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93D06-0FD4-FA2D-EFF8-BCF4AA1AA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907EF-CF62-AA41-2B12-3470A73D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C08DB-12A5-401F-06D0-2DE5EABE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5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48615-DA0B-05DE-81D9-355ADE96B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B7F8C-2DDE-922B-9E01-BBB2E3D1D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E5005-063B-8108-6062-4DA109CD9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07560-EA38-687C-6516-83765B667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ED56C-BB07-C061-00D6-E5E07CE2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2ECB2-6127-BF0C-9E23-BED2FB052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4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03459-D445-7470-1799-298C2BC3E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518F6-9BB2-A9A8-C69A-08ACB17AB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42D5A-32F8-E374-4A0B-CDC30AED8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1738ED-503C-FDCF-E6D8-17ADDECB9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27F739-5222-486B-57BB-7758A9958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D714A-41FB-B5CC-AA53-49535243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E1D26E-ED09-F1F3-315A-576D6BDD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0FE666-BAE5-2229-E32F-665434EA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0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C474-F2B4-BF7A-2AC6-7B750FDB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23C4E-5C32-06D6-7B9F-B249FEEA2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AAF25-D0B0-8D5D-1B36-CD27D5EE2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9BF95-3EEB-0C12-E444-11622F8F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3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7B39F7-D79D-8C69-F8F0-8CFC4811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7D958-8337-97D8-8E9E-C1AC42CD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517F0-8831-2D40-1715-E6A83072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64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FB84-C2D0-FAC0-BF93-D2106F4B1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0E303-8DB6-F780-4A86-EE5DADCA1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F2793-F8E4-6CE2-BD5A-8C7FD7614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382AA-E870-1EE3-3F9A-5D82D165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EBA4D-806A-CBE2-1C50-51C43F3B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F39B0-E1B1-432C-27E2-EE3131AA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2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D251-B632-4260-27E1-EA328268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2F1759-4FE9-8855-C442-383C88917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E5C8A-1EC8-FDAD-B6E9-FBCA85945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6FFFC-820A-A77B-F43B-097210BB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A504D-049A-FFA5-3B1C-C7F523A8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84871-55E7-6DA9-879F-6D3F1A75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22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3D96-4C9E-A1C6-62E0-450C338E7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9C993-F93C-7D54-1181-2D037BE97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330D7-155F-06A7-870E-4354925F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5E642-C774-B4A4-352F-4EACE5DE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05878-D993-79B3-4F20-59FC35C9D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5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678D3B-A0D3-6477-7763-DCCA17922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61A36-B64A-1FBE-80F4-40690DA42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D8359-A68A-075B-A09C-57505876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4557F-ABBA-6ECB-B6D8-8974614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9FAA1-923E-DB6F-1035-9CFC2790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0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A1DC7-317F-E527-5782-CBEF7353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FF26F-99B7-9687-9518-85541722B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254D0-832C-B81A-1415-A181B83DD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A087B-C5E6-47F7-A465-77CA69939817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000F1-6490-3136-2515-8CA7DBB2F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5F06F-547D-C5CF-0218-B79A06E06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D9DEA-E3EC-4075-82F1-B3EEBCBD4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92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116E2F-34CB-49A7-AC2B-A86D1A8438CF}"/>
              </a:ext>
            </a:extLst>
          </p:cNvPr>
          <p:cNvSpPr/>
          <p:nvPr/>
        </p:nvSpPr>
        <p:spPr>
          <a:xfrm>
            <a:off x="370111" y="626907"/>
            <a:ext cx="11713029" cy="1754326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E-Commerce Retail Sales &amp; Customer Behavior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185903-0C98-F450-AB78-1EDBE47DBB8D}"/>
              </a:ext>
            </a:extLst>
          </p:cNvPr>
          <p:cNvSpPr/>
          <p:nvPr/>
        </p:nvSpPr>
        <p:spPr>
          <a:xfrm>
            <a:off x="1706634" y="2777775"/>
            <a:ext cx="9257702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Data-Driven Insights &amp; Executive Dashboard</a:t>
            </a:r>
          </a:p>
          <a:p>
            <a:pPr algn="ctr"/>
            <a:r>
              <a:rPr lang="en-US" sz="2800" b="1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 (12000+ Transaction)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EF3460-6327-50A8-3796-10BCED3BC7FA}"/>
              </a:ext>
            </a:extLst>
          </p:cNvPr>
          <p:cNvSpPr/>
          <p:nvPr/>
        </p:nvSpPr>
        <p:spPr>
          <a:xfrm>
            <a:off x="10886" y="5742214"/>
            <a:ext cx="12192000" cy="2231571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E7121B-6D13-D57E-5CE0-80559B7DFA97}"/>
              </a:ext>
            </a:extLst>
          </p:cNvPr>
          <p:cNvSpPr/>
          <p:nvPr/>
        </p:nvSpPr>
        <p:spPr>
          <a:xfrm>
            <a:off x="2185428" y="6285257"/>
            <a:ext cx="812594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Prepared by: Mohammad Shadab Data Analyst Portfolio</a:t>
            </a:r>
          </a:p>
        </p:txBody>
      </p:sp>
    </p:spTree>
    <p:extLst>
      <p:ext uri="{BB962C8B-B14F-4D97-AF65-F5344CB8AC3E}">
        <p14:creationId xmlns:p14="http://schemas.microsoft.com/office/powerpoint/2010/main" val="368819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D19AF5-3F35-1A06-772D-96DA0326C5BB}"/>
              </a:ext>
            </a:extLst>
          </p:cNvPr>
          <p:cNvSpPr/>
          <p:nvPr/>
        </p:nvSpPr>
        <p:spPr>
          <a:xfrm>
            <a:off x="239485" y="213249"/>
            <a:ext cx="11713029" cy="923330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Executive Summary &amp; Key KPIs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7D6355B-15EA-C3D1-880C-05CFDAE5D1E1}"/>
              </a:ext>
            </a:extLst>
          </p:cNvPr>
          <p:cNvGrpSpPr/>
          <p:nvPr/>
        </p:nvGrpSpPr>
        <p:grpSpPr>
          <a:xfrm>
            <a:off x="394928" y="1749114"/>
            <a:ext cx="1589314" cy="1589314"/>
            <a:chOff x="337460" y="2391371"/>
            <a:chExt cx="1589314" cy="158931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A630AB6-3210-A120-E048-4F0A0F3A8621}"/>
                </a:ext>
              </a:extLst>
            </p:cNvPr>
            <p:cNvSpPr/>
            <p:nvPr/>
          </p:nvSpPr>
          <p:spPr>
            <a:xfrm>
              <a:off x="337460" y="2391371"/>
              <a:ext cx="1589314" cy="158931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latin typeface="+mj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9C0AE5-9858-0586-0C42-B7832E379C86}"/>
                </a:ext>
              </a:extLst>
            </p:cNvPr>
            <p:cNvSpPr/>
            <p:nvPr/>
          </p:nvSpPr>
          <p:spPr>
            <a:xfrm>
              <a:off x="356307" y="2882754"/>
              <a:ext cx="1486304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dirty="0">
                  <a:ln w="0"/>
                  <a:solidFill>
                    <a:srgbClr val="FFF7E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$1.39M</a:t>
              </a:r>
              <a:endParaRPr lang="en-US" sz="3200" b="1" cap="none" spc="0" dirty="0">
                <a:ln w="0"/>
                <a:solidFill>
                  <a:srgbClr val="FFF7E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07ABAF-9A07-23FA-94EC-AF4B491FD1B4}"/>
              </a:ext>
            </a:extLst>
          </p:cNvPr>
          <p:cNvGrpSpPr/>
          <p:nvPr/>
        </p:nvGrpSpPr>
        <p:grpSpPr>
          <a:xfrm>
            <a:off x="2677889" y="1749114"/>
            <a:ext cx="1589314" cy="1589314"/>
            <a:chOff x="2645231" y="2391371"/>
            <a:chExt cx="1589314" cy="158931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C48C55-144B-1E78-5DD6-80B97CC4C9CE}"/>
                </a:ext>
              </a:extLst>
            </p:cNvPr>
            <p:cNvSpPr/>
            <p:nvPr/>
          </p:nvSpPr>
          <p:spPr>
            <a:xfrm>
              <a:off x="2645231" y="2391371"/>
              <a:ext cx="1589314" cy="158931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0BA4CD-FE4C-5220-E4A9-97CAB13111C7}"/>
                </a:ext>
              </a:extLst>
            </p:cNvPr>
            <p:cNvSpPr/>
            <p:nvPr/>
          </p:nvSpPr>
          <p:spPr>
            <a:xfrm>
              <a:off x="2734330" y="2882754"/>
              <a:ext cx="1351653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>
                  <a:ln w="0"/>
                  <a:solidFill>
                    <a:srgbClr val="FFF7E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12.00K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9B7808-E65E-2680-F23E-95F54378D441}"/>
              </a:ext>
            </a:extLst>
          </p:cNvPr>
          <p:cNvGrpSpPr/>
          <p:nvPr/>
        </p:nvGrpSpPr>
        <p:grpSpPr>
          <a:xfrm>
            <a:off x="4992391" y="1749114"/>
            <a:ext cx="1593469" cy="1589314"/>
            <a:chOff x="4959733" y="2391371"/>
            <a:chExt cx="1593469" cy="158931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C411602-6E8E-4D02-08A2-3616281B5388}"/>
                </a:ext>
              </a:extLst>
            </p:cNvPr>
            <p:cNvSpPr/>
            <p:nvPr/>
          </p:nvSpPr>
          <p:spPr>
            <a:xfrm>
              <a:off x="4963888" y="2391371"/>
              <a:ext cx="1589314" cy="158931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605699-7232-602F-A4AB-0A684D019E3E}"/>
                </a:ext>
              </a:extLst>
            </p:cNvPr>
            <p:cNvSpPr/>
            <p:nvPr/>
          </p:nvSpPr>
          <p:spPr>
            <a:xfrm>
              <a:off x="4959733" y="2882754"/>
              <a:ext cx="1544013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dirty="0">
                  <a:ln w="0"/>
                  <a:solidFill>
                    <a:srgbClr val="FFF7E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$115.04</a:t>
              </a:r>
              <a:endParaRPr lang="en-US" sz="3200" b="1" cap="none" spc="0" dirty="0">
                <a:ln w="0"/>
                <a:solidFill>
                  <a:srgbClr val="FFF7E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1AC0057-FE11-15BE-7B7E-6AC2679AA9E7}"/>
              </a:ext>
            </a:extLst>
          </p:cNvPr>
          <p:cNvGrpSpPr/>
          <p:nvPr/>
        </p:nvGrpSpPr>
        <p:grpSpPr>
          <a:xfrm>
            <a:off x="7494817" y="1749114"/>
            <a:ext cx="1589314" cy="1589314"/>
            <a:chOff x="7462159" y="2391371"/>
            <a:chExt cx="1589314" cy="158931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9CD1F6B-0B0D-EE27-989C-AB69C3D3B5D4}"/>
                </a:ext>
              </a:extLst>
            </p:cNvPr>
            <p:cNvSpPr/>
            <p:nvPr/>
          </p:nvSpPr>
          <p:spPr>
            <a:xfrm>
              <a:off x="7462159" y="2391371"/>
              <a:ext cx="1589314" cy="158931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1CF70D-AC13-67C4-279C-4D8CEE6E284A}"/>
                </a:ext>
              </a:extLst>
            </p:cNvPr>
            <p:cNvSpPr/>
            <p:nvPr/>
          </p:nvSpPr>
          <p:spPr>
            <a:xfrm>
              <a:off x="7568422" y="2871868"/>
              <a:ext cx="1426994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dirty="0">
                  <a:ln w="0"/>
                  <a:solidFill>
                    <a:srgbClr val="FFF7E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54.82%</a:t>
              </a:r>
              <a:endParaRPr lang="en-US" sz="3200" b="1" cap="none" spc="0" dirty="0">
                <a:ln w="0"/>
                <a:solidFill>
                  <a:srgbClr val="FFF7E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0EF6EF4-9329-3D07-B8E6-3C016502E9D4}"/>
              </a:ext>
            </a:extLst>
          </p:cNvPr>
          <p:cNvGrpSpPr/>
          <p:nvPr/>
        </p:nvGrpSpPr>
        <p:grpSpPr>
          <a:xfrm>
            <a:off x="9993088" y="1749114"/>
            <a:ext cx="1589314" cy="1589314"/>
            <a:chOff x="9960430" y="2391371"/>
            <a:chExt cx="1589314" cy="158931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AF7816B-09F8-4F38-1AF4-357847428E0C}"/>
                </a:ext>
              </a:extLst>
            </p:cNvPr>
            <p:cNvSpPr/>
            <p:nvPr/>
          </p:nvSpPr>
          <p:spPr>
            <a:xfrm>
              <a:off x="9960430" y="2391371"/>
              <a:ext cx="1589314" cy="158931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05AA71-2B4E-AC38-7BAA-0AF6FF2B5348}"/>
                </a:ext>
              </a:extLst>
            </p:cNvPr>
            <p:cNvSpPr/>
            <p:nvPr/>
          </p:nvSpPr>
          <p:spPr>
            <a:xfrm>
              <a:off x="10107720" y="2882754"/>
              <a:ext cx="1426994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>
                  <a:ln w="0"/>
                  <a:solidFill>
                    <a:srgbClr val="FFF7E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88.47%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90F417DA-EC85-FED1-84EC-A9B636636A7B}"/>
              </a:ext>
            </a:extLst>
          </p:cNvPr>
          <p:cNvSpPr/>
          <p:nvPr/>
        </p:nvSpPr>
        <p:spPr>
          <a:xfrm>
            <a:off x="394928" y="3449653"/>
            <a:ext cx="1474378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Total </a:t>
            </a:r>
          </a:p>
          <a:p>
            <a:pPr algn="ctr"/>
            <a:r>
              <a:rPr lang="en-US" sz="2800" b="1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Revenue</a:t>
            </a:r>
            <a:endParaRPr lang="en-US" sz="2800" b="1" cap="none" spc="0" dirty="0">
              <a:ln w="0"/>
              <a:solidFill>
                <a:schemeClr val="bg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ell MT" panose="02020503060305020303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AEE1D3-0536-0496-C955-BFB26B23D517}"/>
              </a:ext>
            </a:extLst>
          </p:cNvPr>
          <p:cNvSpPr/>
          <p:nvPr/>
        </p:nvSpPr>
        <p:spPr>
          <a:xfrm>
            <a:off x="2838366" y="3449653"/>
            <a:ext cx="126836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Total </a:t>
            </a:r>
          </a:p>
          <a:p>
            <a:pPr algn="ctr"/>
            <a:r>
              <a:rPr lang="en-US" sz="28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Orders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3F7703-3736-0903-CF36-F708EC588EC4}"/>
              </a:ext>
            </a:extLst>
          </p:cNvPr>
          <p:cNvSpPr/>
          <p:nvPr/>
        </p:nvSpPr>
        <p:spPr>
          <a:xfrm>
            <a:off x="4868809" y="3449653"/>
            <a:ext cx="1888337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Avg. Order</a:t>
            </a:r>
          </a:p>
          <a:p>
            <a:pPr algn="ctr"/>
            <a:r>
              <a:rPr lang="en-US" sz="2800" b="1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Value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141CAF-4E8F-BE74-B0C3-0FE726EBC3E7}"/>
              </a:ext>
            </a:extLst>
          </p:cNvPr>
          <p:cNvSpPr/>
          <p:nvPr/>
        </p:nvSpPr>
        <p:spPr>
          <a:xfrm>
            <a:off x="7481798" y="3449653"/>
            <a:ext cx="1604478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Delivery </a:t>
            </a:r>
          </a:p>
          <a:p>
            <a:pPr algn="ctr"/>
            <a:r>
              <a:rPr lang="en-US" sz="28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Success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EF4C74-8B0B-5EBB-FD99-8921F21A55F4}"/>
              </a:ext>
            </a:extLst>
          </p:cNvPr>
          <p:cNvSpPr/>
          <p:nvPr/>
        </p:nvSpPr>
        <p:spPr>
          <a:xfrm>
            <a:off x="9343187" y="3449653"/>
            <a:ext cx="2889124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Repeat Customer</a:t>
            </a:r>
          </a:p>
          <a:p>
            <a:pPr algn="ctr"/>
            <a:r>
              <a:rPr lang="en-US" sz="28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ell MT" panose="02020503060305020303" pitchFamily="18" charset="0"/>
              </a:rPr>
              <a:t>Rate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6938E8-EE9D-47B5-0725-CF6C6C607645}"/>
              </a:ext>
            </a:extLst>
          </p:cNvPr>
          <p:cNvSpPr/>
          <p:nvPr/>
        </p:nvSpPr>
        <p:spPr>
          <a:xfrm>
            <a:off x="-1" y="4680854"/>
            <a:ext cx="12192000" cy="251460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Bell MT" panose="02020503060305020303" pitchFamily="18" charset="0"/>
              </a:rPr>
              <a:t>Revenue Growth &amp; Seasonality</a:t>
            </a:r>
            <a:r>
              <a:rPr lang="en-US" dirty="0">
                <a:latin typeface="Bell MT" panose="02020503060305020303" pitchFamily="18" charset="0"/>
              </a:rPr>
              <a:t>: Generated $1.39M total revenue across 12K orders, driven by Q4 holiday seasonality</a:t>
            </a:r>
            <a:r>
              <a:rPr lang="en-US" sz="1600" dirty="0">
                <a:latin typeface="Bell MT" panose="02020503060305020303" pitchFamily="18" charset="0"/>
              </a:rPr>
              <a:t>.</a:t>
            </a:r>
          </a:p>
          <a:p>
            <a:pPr marL="9144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Bell MT" panose="02020503060305020303" pitchFamily="18" charset="0"/>
              </a:rPr>
              <a:t>Core Revenue Engines</a:t>
            </a:r>
            <a:r>
              <a:rPr lang="en-US" dirty="0">
                <a:latin typeface="Bell MT" panose="02020503060305020303" pitchFamily="18" charset="0"/>
              </a:rPr>
              <a:t>:</a:t>
            </a:r>
            <a:r>
              <a:rPr lang="en-US" sz="1600" dirty="0">
                <a:latin typeface="Bell MT" panose="02020503060305020303" pitchFamily="18" charset="0"/>
              </a:rPr>
              <a:t> Electronics ($350K+) and Home &amp; Kitchen product categories generate over 45% of total gross sales.</a:t>
            </a:r>
          </a:p>
          <a:p>
            <a:pPr marL="9144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Bell MT" panose="02020503060305020303" pitchFamily="18" charset="0"/>
              </a:rPr>
              <a:t>Top Categories</a:t>
            </a:r>
            <a:r>
              <a:rPr lang="en-US" dirty="0">
                <a:latin typeface="Bell MT" panose="02020503060305020303" pitchFamily="18" charset="0"/>
              </a:rPr>
              <a:t>:  Electronics ($350K+) and Home &amp; Kitchen account for 45%+ of gross sales.</a:t>
            </a:r>
          </a:p>
          <a:p>
            <a:pPr marL="9144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Bell MT" panose="02020503060305020303" pitchFamily="18" charset="0"/>
              </a:rPr>
              <a:t>Top Markets</a:t>
            </a:r>
            <a:r>
              <a:rPr lang="en-US" sz="2000" b="1" dirty="0">
                <a:latin typeface="Bell MT" panose="02020503060305020303" pitchFamily="18" charset="0"/>
              </a:rPr>
              <a:t>:  </a:t>
            </a:r>
            <a:r>
              <a:rPr lang="en-US" sz="1600" dirty="0">
                <a:latin typeface="Bell MT" panose="02020503060305020303" pitchFamily="18" charset="0"/>
              </a:rPr>
              <a:t>Balanced global sales, with Abu Dhabi ($100K+) &amp; Dubai leading city revenues.</a:t>
            </a:r>
          </a:p>
          <a:p>
            <a:pPr marL="9144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Bell MT" panose="02020503060305020303" pitchFamily="18" charset="0"/>
              </a:rPr>
              <a:t>High Retention: </a:t>
            </a:r>
            <a:r>
              <a:rPr lang="en-US" sz="1600" dirty="0">
                <a:latin typeface="Bell MT" panose="02020503060305020303" pitchFamily="18" charset="0"/>
              </a:rPr>
              <a:t>Strong 88.5% repeat customer rate reflects excellent brand loyalty.</a:t>
            </a:r>
          </a:p>
          <a:p>
            <a:pPr marL="91440" indent="-285750">
              <a:buFont typeface="Wingdings" panose="05000000000000000000" pitchFamily="2" charset="2"/>
              <a:buChar char="ü"/>
            </a:pPr>
            <a:r>
              <a:rPr lang="en-US" b="1" dirty="0">
                <a:latin typeface="Bell MT" panose="02020503060305020303" pitchFamily="18" charset="0"/>
              </a:rPr>
              <a:t>Logistics Focus</a:t>
            </a:r>
            <a:r>
              <a:rPr lang="en-US" sz="1600" b="1" dirty="0">
                <a:latin typeface="Bell MT" panose="02020503060305020303" pitchFamily="18" charset="0"/>
              </a:rPr>
              <a:t>: </a:t>
            </a:r>
            <a:r>
              <a:rPr lang="en-US" sz="1600" dirty="0">
                <a:latin typeface="Bell MT" panose="02020503060305020303" pitchFamily="18" charset="0"/>
              </a:rPr>
              <a:t>54.8% delivery rate highlights an opportunity to improve fulfillment &amp; return SLAs.</a:t>
            </a:r>
          </a:p>
        </p:txBody>
      </p:sp>
    </p:spTree>
    <p:extLst>
      <p:ext uri="{BB962C8B-B14F-4D97-AF65-F5344CB8AC3E}">
        <p14:creationId xmlns:p14="http://schemas.microsoft.com/office/powerpoint/2010/main" val="393090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85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5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9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25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350" fill="hold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50" fill="hold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6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35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5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95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35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5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3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35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5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65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35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5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35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5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350"/>
                            </p:stCondLst>
                            <p:childTnLst>
                              <p:par>
                                <p:cTn id="10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35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5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/>
      <p:bldP spid="17" grpId="0"/>
      <p:bldP spid="18" grpId="0"/>
      <p:bldP spid="19" grpId="0"/>
      <p:bldP spid="20" grpId="0"/>
      <p:bldP spid="26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D87BEE-19A0-F411-85E7-7689DC1F9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" y="1237427"/>
            <a:ext cx="8010144" cy="5195559"/>
          </a:xfrm>
          <a:prstGeom prst="rect">
            <a:avLst/>
          </a:prstGeom>
          <a:effectLst>
            <a:outerShdw blurRad="63500" dist="190500" dir="7800000" algn="tr" rotWithShape="0">
              <a:prstClr val="black">
                <a:alpha val="43000"/>
              </a:prstClr>
            </a:outerShdw>
            <a:softEdge rad="12700"/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082A66-D562-B730-EA08-62F955B5B0E0}"/>
              </a:ext>
            </a:extLst>
          </p:cNvPr>
          <p:cNvSpPr/>
          <p:nvPr/>
        </p:nvSpPr>
        <p:spPr>
          <a:xfrm>
            <a:off x="239485" y="213249"/>
            <a:ext cx="11713029" cy="923330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Monthly &amp; Yearly Sales Performance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5C2C8A-B747-F167-60C3-0EA1C8D4E8AC}"/>
              </a:ext>
            </a:extLst>
          </p:cNvPr>
          <p:cNvSpPr/>
          <p:nvPr/>
        </p:nvSpPr>
        <p:spPr>
          <a:xfrm>
            <a:off x="9099396" y="1182879"/>
            <a:ext cx="3482285" cy="572142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94F21-B13D-4E04-A8BD-0C50214EB3B9}"/>
              </a:ext>
            </a:extLst>
          </p:cNvPr>
          <p:cNvSpPr txBox="1"/>
          <p:nvPr/>
        </p:nvSpPr>
        <p:spPr>
          <a:xfrm>
            <a:off x="9375354" y="1795750"/>
            <a:ext cx="25771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Key Trend: </a:t>
            </a:r>
          </a:p>
          <a:p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    Q4 (Nov–Dec)</a:t>
            </a:r>
          </a:p>
          <a:p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    experiences </a:t>
            </a:r>
          </a:p>
          <a:p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    peak demand</a:t>
            </a:r>
          </a:p>
          <a:p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    surge.</a:t>
            </a:r>
          </a:p>
          <a:p>
            <a:endParaRPr lang="en-US" sz="24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Business Action: </a:t>
            </a:r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Ramping up inventory and marketing spend 40% prior to November</a:t>
            </a:r>
          </a:p>
        </p:txBody>
      </p:sp>
    </p:spTree>
    <p:extLst>
      <p:ext uri="{BB962C8B-B14F-4D97-AF65-F5344CB8AC3E}">
        <p14:creationId xmlns:p14="http://schemas.microsoft.com/office/powerpoint/2010/main" val="306263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5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9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35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5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35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5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6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35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5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95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5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58192A-53D8-EA66-9270-109DB05A0C95}"/>
              </a:ext>
            </a:extLst>
          </p:cNvPr>
          <p:cNvSpPr/>
          <p:nvPr/>
        </p:nvSpPr>
        <p:spPr>
          <a:xfrm>
            <a:off x="9099396" y="1423686"/>
            <a:ext cx="3482285" cy="548061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7C26D-AAD2-B637-1E1F-FEE79AE70C4E}"/>
              </a:ext>
            </a:extLst>
          </p:cNvPr>
          <p:cNvSpPr txBox="1"/>
          <p:nvPr/>
        </p:nvSpPr>
        <p:spPr>
          <a:xfrm>
            <a:off x="9375354" y="1795750"/>
            <a:ext cx="25771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Top Categories: </a:t>
            </a: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Electronics ($350K+) and Home &amp; Kitchen account for ~45% of gross revenue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bg1"/>
                </a:solidFill>
                <a:latin typeface="Bell MT" panose="02020503060305020303" pitchFamily="18" charset="0"/>
              </a:rPr>
              <a:t>Opportunity: </a:t>
            </a:r>
            <a:r>
              <a:rPr lang="en-US" sz="2000" dirty="0">
                <a:solidFill>
                  <a:schemeClr val="bg1"/>
                </a:solidFill>
                <a:latin typeface="Bell MT" panose="02020503060305020303" pitchFamily="18" charset="0"/>
              </a:rPr>
              <a:t>Introduce bundle deals with low-performing categories like Grocery and Books.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F3DB4B-BAE2-E711-6459-EB565DF367C6}"/>
              </a:ext>
            </a:extLst>
          </p:cNvPr>
          <p:cNvSpPr/>
          <p:nvPr/>
        </p:nvSpPr>
        <p:spPr>
          <a:xfrm>
            <a:off x="239486" y="166949"/>
            <a:ext cx="11713029" cy="923330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Revenue by Product Category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ED86CB-144A-ED86-D750-E693A24F9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6" y="969450"/>
            <a:ext cx="8013208" cy="5629001"/>
          </a:xfrm>
          <a:prstGeom prst="rect">
            <a:avLst/>
          </a:prstGeom>
          <a:effectLst>
            <a:outerShdw blurRad="63500" dist="190500" dir="7800000" algn="tr" rotWithShape="0">
              <a:prstClr val="black">
                <a:alpha val="43000"/>
              </a:prst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94719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5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allAtOnce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D2076-4EE6-262A-DFD4-F27A33CF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63D61B-2698-4339-FCD5-D83EFAB53823}"/>
              </a:ext>
            </a:extLst>
          </p:cNvPr>
          <p:cNvSpPr/>
          <p:nvPr/>
        </p:nvSpPr>
        <p:spPr>
          <a:xfrm>
            <a:off x="9099396" y="1148154"/>
            <a:ext cx="3482285" cy="572142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53CC3-369C-1B5A-4354-6E41C6E73D8D}"/>
              </a:ext>
            </a:extLst>
          </p:cNvPr>
          <p:cNvSpPr txBox="1"/>
          <p:nvPr/>
        </p:nvSpPr>
        <p:spPr>
          <a:xfrm>
            <a:off x="9188067" y="1974689"/>
            <a:ext cx="284235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Balanced Reach</a:t>
            </a:r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: Balanced revenue contribution (~$175K–$200K) across UAE, UK, Germany, India, USA, Canada, and Australia.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579DB-D99E-8B41-5E0D-1AEBABFDB111}"/>
              </a:ext>
            </a:extLst>
          </p:cNvPr>
          <p:cNvSpPr/>
          <p:nvPr/>
        </p:nvSpPr>
        <p:spPr>
          <a:xfrm>
            <a:off x="239486" y="166949"/>
            <a:ext cx="11713029" cy="923330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Global Geographical Performance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D0BD43-38B0-5685-A9DE-D0BDB142C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55" y="1327011"/>
            <a:ext cx="8010144" cy="5294590"/>
          </a:xfrm>
          <a:prstGeom prst="rect">
            <a:avLst/>
          </a:prstGeom>
          <a:effectLst>
            <a:outerShdw blurRad="63500" dist="190500" dir="7800000" algn="tr" rotWithShape="0">
              <a:prstClr val="black">
                <a:alpha val="43000"/>
              </a:prst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104558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build="allAtOnce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A93A8-592B-1876-5935-26626994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035DB1-F7AA-88BC-9552-D1A2F7D66228}"/>
              </a:ext>
            </a:extLst>
          </p:cNvPr>
          <p:cNvSpPr/>
          <p:nvPr/>
        </p:nvSpPr>
        <p:spPr>
          <a:xfrm>
            <a:off x="9099396" y="1182879"/>
            <a:ext cx="3482285" cy="572142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D4116-74CB-C335-BC6B-AB9D24A2E1F1}"/>
              </a:ext>
            </a:extLst>
          </p:cNvPr>
          <p:cNvSpPr txBox="1"/>
          <p:nvPr/>
        </p:nvSpPr>
        <p:spPr>
          <a:xfrm>
            <a:off x="9308466" y="1404193"/>
            <a:ext cx="28615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Top Performing Cities: </a:t>
            </a:r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Abu Dhabi ($100K+) and Dubai ($90K+) are individual top revenue cities.</a:t>
            </a:r>
          </a:p>
          <a:p>
            <a:endParaRPr lang="en-US" sz="24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Action: </a:t>
            </a:r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Establish regional fulfillment centers in UAE to optimize shipping SLAs.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6101D-EEB2-F97E-4CA9-F37387D9A838}"/>
              </a:ext>
            </a:extLst>
          </p:cNvPr>
          <p:cNvSpPr/>
          <p:nvPr/>
        </p:nvSpPr>
        <p:spPr>
          <a:xfrm>
            <a:off x="239486" y="166949"/>
            <a:ext cx="11713029" cy="923330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Regional City Hubs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18CD8-F7CB-5488-2837-04BCE9574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69" y="1317097"/>
            <a:ext cx="8001132" cy="5193871"/>
          </a:xfrm>
          <a:prstGeom prst="rect">
            <a:avLst/>
          </a:prstGeom>
          <a:effectLst>
            <a:outerShdw blurRad="63500" dist="190500" dir="7800000" algn="tr" rotWithShape="0">
              <a:prstClr val="black">
                <a:alpha val="43000"/>
              </a:prst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073157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C5578-2C2E-0698-7A4A-C9CC109A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D5F109-0C7C-BBDF-66A0-5D3C1E793FF7}"/>
              </a:ext>
            </a:extLst>
          </p:cNvPr>
          <p:cNvSpPr/>
          <p:nvPr/>
        </p:nvSpPr>
        <p:spPr>
          <a:xfrm>
            <a:off x="9099396" y="1182879"/>
            <a:ext cx="3482285" cy="572142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3D980-3D49-C2BE-B8D2-7ADE2418CFD6}"/>
              </a:ext>
            </a:extLst>
          </p:cNvPr>
          <p:cNvSpPr txBox="1"/>
          <p:nvPr/>
        </p:nvSpPr>
        <p:spPr>
          <a:xfrm>
            <a:off x="9308466" y="1613516"/>
            <a:ext cx="2861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Success Rate: </a:t>
            </a:r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54.82% of total orders successfully delivered.</a:t>
            </a:r>
          </a:p>
          <a:p>
            <a:endParaRPr lang="en-US" sz="24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Challenge: </a:t>
            </a:r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High volume in Shipped/Pending/Returned statuses requires courier SLA review.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D71D08-7152-5378-08DF-3B6012691CED}"/>
              </a:ext>
            </a:extLst>
          </p:cNvPr>
          <p:cNvSpPr/>
          <p:nvPr/>
        </p:nvSpPr>
        <p:spPr>
          <a:xfrm>
            <a:off x="239486" y="166949"/>
            <a:ext cx="11713029" cy="923330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Fulfillment &amp; Order Operations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6510D-040B-241B-5ACD-6299FFA7F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" y="1412358"/>
            <a:ext cx="7979098" cy="5087594"/>
          </a:xfrm>
          <a:prstGeom prst="rect">
            <a:avLst/>
          </a:prstGeom>
          <a:effectLst>
            <a:outerShdw blurRad="63500" dist="190500" dir="7800000" algn="tr" rotWithShape="0">
              <a:prstClr val="black">
                <a:alpha val="43000"/>
              </a:prst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482639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370C5-EBE1-431A-94FA-B337DDB3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F58510-DD8D-052A-4706-B7D4FA4FFBA7}"/>
              </a:ext>
            </a:extLst>
          </p:cNvPr>
          <p:cNvSpPr/>
          <p:nvPr/>
        </p:nvSpPr>
        <p:spPr>
          <a:xfrm>
            <a:off x="9099396" y="1182879"/>
            <a:ext cx="3482285" cy="572142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BC5FF-0D4B-C193-C445-B6D9241A2F6F}"/>
              </a:ext>
            </a:extLst>
          </p:cNvPr>
          <p:cNvSpPr txBox="1"/>
          <p:nvPr/>
        </p:nvSpPr>
        <p:spPr>
          <a:xfrm>
            <a:off x="9308466" y="1613516"/>
            <a:ext cx="28615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bg1"/>
                </a:solidFill>
                <a:latin typeface="Bell MT" panose="02020503060305020303" pitchFamily="18" charset="0"/>
              </a:rPr>
              <a:t>Uniform Adoption: </a:t>
            </a:r>
            <a:r>
              <a:rPr lang="en-US" sz="2800" dirty="0">
                <a:solidFill>
                  <a:schemeClr val="bg1"/>
                </a:solidFill>
                <a:latin typeface="Bell MT" panose="02020503060305020303" pitchFamily="18" charset="0"/>
              </a:rPr>
              <a:t>Cash on Delivery, </a:t>
            </a:r>
            <a:r>
              <a:rPr lang="en-US" sz="2800" dirty="0" err="1">
                <a:solidFill>
                  <a:schemeClr val="bg1"/>
                </a:solidFill>
                <a:latin typeface="Bell MT" panose="02020503060305020303" pitchFamily="18" charset="0"/>
              </a:rPr>
              <a:t>Netbanking</a:t>
            </a:r>
            <a:r>
              <a:rPr lang="en-US" sz="2800" dirty="0">
                <a:solidFill>
                  <a:schemeClr val="bg1"/>
                </a:solidFill>
                <a:latin typeface="Bell MT" panose="02020503060305020303" pitchFamily="18" charset="0"/>
              </a:rPr>
              <a:t>, Cards, and UPI hold equal market share (15%–17% each).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94ECCC-6120-1C9D-AD2E-4E860AE1D594}"/>
              </a:ext>
            </a:extLst>
          </p:cNvPr>
          <p:cNvSpPr/>
          <p:nvPr/>
        </p:nvSpPr>
        <p:spPr>
          <a:xfrm>
            <a:off x="33609" y="166949"/>
            <a:ext cx="11930481" cy="923330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Payment Gateway &amp; Channel Adoption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6B5AB9-6636-3B18-7015-D32A3C8F2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13" y="1405374"/>
            <a:ext cx="7222602" cy="5001005"/>
          </a:xfrm>
          <a:prstGeom prst="rect">
            <a:avLst/>
          </a:prstGeom>
          <a:effectLst>
            <a:outerShdw blurRad="63500" dist="190500" dir="7800000" algn="tr" rotWithShape="0">
              <a:prstClr val="black">
                <a:alpha val="43000"/>
              </a:prst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50067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5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F3073-CE19-7C4B-0FBC-BC6F8D3A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0F547D-95E1-815D-F11F-73A2711BCDDC}"/>
              </a:ext>
            </a:extLst>
          </p:cNvPr>
          <p:cNvSpPr/>
          <p:nvPr/>
        </p:nvSpPr>
        <p:spPr>
          <a:xfrm>
            <a:off x="9099396" y="1182879"/>
            <a:ext cx="3482285" cy="572142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F1FF4-2A9E-CB44-F3C5-6F07F198E20E}"/>
              </a:ext>
            </a:extLst>
          </p:cNvPr>
          <p:cNvSpPr txBox="1"/>
          <p:nvPr/>
        </p:nvSpPr>
        <p:spPr>
          <a:xfrm>
            <a:off x="9308466" y="1613516"/>
            <a:ext cx="2861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Positive Price-to-Revenue Scaling:  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Revenue expands linearly as Unit Price increases ($0–$250), confirming high-value products as key revenue drivers.</a:t>
            </a:r>
          </a:p>
          <a:p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Return &amp; Refund </a:t>
            </a:r>
            <a:r>
              <a:rPr lang="en-US" b="1" dirty="0" err="1">
                <a:solidFill>
                  <a:schemeClr val="bg1"/>
                </a:solidFill>
                <a:latin typeface="Bell MT" panose="02020503060305020303" pitchFamily="18" charset="0"/>
              </a:rPr>
              <a:t>Anomalies:</a:t>
            </a:r>
            <a:r>
              <a:rPr lang="en-US" dirty="0" err="1">
                <a:solidFill>
                  <a:schemeClr val="bg1"/>
                </a:solidFill>
                <a:latin typeface="Bell MT" panose="02020503060305020303" pitchFamily="18" charset="0"/>
              </a:rPr>
              <a:t>Data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points below the zero line ($0 to -$200) reflect returned orders and customer refund transactions.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B6086-91B6-FF5C-EFCE-81CC7009566A}"/>
              </a:ext>
            </a:extLst>
          </p:cNvPr>
          <p:cNvSpPr/>
          <p:nvPr/>
        </p:nvSpPr>
        <p:spPr>
          <a:xfrm>
            <a:off x="0" y="259282"/>
            <a:ext cx="12137710" cy="830997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Statistical Correlation &amp; Pricing Strategy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FCD38D-42AA-2954-D222-F92CF495E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7" y="1136579"/>
            <a:ext cx="7879096" cy="5230428"/>
          </a:xfrm>
          <a:prstGeom prst="rect">
            <a:avLst/>
          </a:prstGeom>
          <a:effectLst>
            <a:outerShdw blurRad="63500" dist="190500" dir="7800000" algn="tr" rotWithShape="0">
              <a:prstClr val="black">
                <a:alpha val="43000"/>
              </a:prst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40581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3CCC1-B7D4-4CDD-4552-FF478F0BD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7B2C20-1D61-9CBB-6EF7-936DEBB4DD3E}"/>
              </a:ext>
            </a:extLst>
          </p:cNvPr>
          <p:cNvSpPr/>
          <p:nvPr/>
        </p:nvSpPr>
        <p:spPr>
          <a:xfrm>
            <a:off x="9099396" y="1182879"/>
            <a:ext cx="3482285" cy="5721421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B1E02-5D5F-7647-EDDE-B5321A539929}"/>
              </a:ext>
            </a:extLst>
          </p:cNvPr>
          <p:cNvSpPr txBox="1"/>
          <p:nvPr/>
        </p:nvSpPr>
        <p:spPr>
          <a:xfrm>
            <a:off x="9308466" y="1613516"/>
            <a:ext cx="2861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Revenue Drivers: </a:t>
            </a:r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Unit Price (0.73) and Quantity (0.52) are primary growth drivers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chemeClr val="bg1"/>
                </a:solidFill>
                <a:latin typeface="Bell MT" panose="02020503060305020303" pitchFamily="18" charset="0"/>
              </a:rPr>
              <a:t>Discount Impact: </a:t>
            </a:r>
            <a:r>
              <a:rPr lang="en-US" sz="2400" dirty="0">
                <a:solidFill>
                  <a:schemeClr val="bg1"/>
                </a:solidFill>
                <a:latin typeface="Bell MT" panose="02020503060305020303" pitchFamily="18" charset="0"/>
              </a:rPr>
              <a:t>Discounts show minimal correlation (-0.07) with total order value.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7CA191-17C6-03CD-1F25-F6EE9171525F}"/>
              </a:ext>
            </a:extLst>
          </p:cNvPr>
          <p:cNvSpPr/>
          <p:nvPr/>
        </p:nvSpPr>
        <p:spPr>
          <a:xfrm>
            <a:off x="0" y="259282"/>
            <a:ext cx="12137710" cy="830997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Statistical Correlation &amp; Pricing Strategy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D04441-350F-FABB-0EFC-F5D3C720C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89" y="1374224"/>
            <a:ext cx="7212267" cy="5224494"/>
          </a:xfrm>
          <a:prstGeom prst="rect">
            <a:avLst/>
          </a:prstGeom>
          <a:effectLst>
            <a:outerShdw blurRad="63500" dist="190500" dir="7800000" algn="tr" rotWithShape="0">
              <a:prstClr val="black">
                <a:alpha val="43000"/>
              </a:prst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19980214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10" advClick="0" advTm="5000"/>
    </mc:Choice>
    <mc:Fallback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E89ED-489F-D536-BA29-2E11D00C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0DD0E-1B20-75D9-892F-3489434CA8D6}"/>
              </a:ext>
            </a:extLst>
          </p:cNvPr>
          <p:cNvSpPr/>
          <p:nvPr/>
        </p:nvSpPr>
        <p:spPr>
          <a:xfrm>
            <a:off x="0" y="39366"/>
            <a:ext cx="12137710" cy="769441"/>
          </a:xfrm>
          <a:prstGeom prst="rect">
            <a:avLst/>
          </a:prstGeom>
          <a:solidFill>
            <a:srgbClr val="FFFEFB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0"/>
                <a:solidFill>
                  <a:schemeClr val="bg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Strategic Recommendations &amp; Action Plan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BC5827-9F0F-F89D-AF44-7EEFA5101501}"/>
              </a:ext>
            </a:extLst>
          </p:cNvPr>
          <p:cNvSpPr/>
          <p:nvPr/>
        </p:nvSpPr>
        <p:spPr>
          <a:xfrm>
            <a:off x="252714" y="1387545"/>
            <a:ext cx="3482285" cy="434192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FD2E41B-DFAA-F7CB-21FE-D88C07F119A5}"/>
              </a:ext>
            </a:extLst>
          </p:cNvPr>
          <p:cNvSpPr/>
          <p:nvPr/>
        </p:nvSpPr>
        <p:spPr>
          <a:xfrm>
            <a:off x="4316137" y="1387545"/>
            <a:ext cx="3482285" cy="434192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F036EF0-1882-EADC-F81F-4DE6200D9DB5}"/>
              </a:ext>
            </a:extLst>
          </p:cNvPr>
          <p:cNvSpPr/>
          <p:nvPr/>
        </p:nvSpPr>
        <p:spPr>
          <a:xfrm>
            <a:off x="8387551" y="1387545"/>
            <a:ext cx="3482285" cy="434192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ECA1D5-2A69-24C6-FB41-E84FC386CB91}"/>
              </a:ext>
            </a:extLst>
          </p:cNvPr>
          <p:cNvSpPr txBox="1"/>
          <p:nvPr/>
        </p:nvSpPr>
        <p:spPr>
          <a:xfrm>
            <a:off x="322164" y="2223945"/>
            <a:ext cx="2861500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  <a:latin typeface="Bell MT" panose="02020503060305020303" pitchFamily="18" charset="0"/>
              </a:rPr>
              <a:t> Q4 Inventory Scale-Up: Increase stock levels and marketing budget by 40% in September to capture peak Q4 holiday demand.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13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  <a:latin typeface="Bell MT" panose="02020503060305020303" pitchFamily="18" charset="0"/>
              </a:rPr>
              <a:t>Leverage Core Categories: Focus promotional campaigns on Electronics ($350K+) and Home &amp; Kitchen, which drive over 45% of total revenue.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13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  <a:latin typeface="Bell MT" panose="02020503060305020303" pitchFamily="18" charset="0"/>
              </a:rPr>
              <a:t>Target High-Value Cities: Prioritize performance marketing in top regional hubs like Abu Dhabi ($100K+) and Dubai ($90K+).</a:t>
            </a:r>
          </a:p>
          <a:p>
            <a:endParaRPr lang="en-US" sz="13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3C7A62-1A53-76D3-9647-B2636F2819A1}"/>
              </a:ext>
            </a:extLst>
          </p:cNvPr>
          <p:cNvSpPr/>
          <p:nvPr/>
        </p:nvSpPr>
        <p:spPr>
          <a:xfrm rot="16200000">
            <a:off x="5607163" y="614989"/>
            <a:ext cx="977673" cy="121920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910551-C9E6-212D-2A35-DF7564546452}"/>
              </a:ext>
            </a:extLst>
          </p:cNvPr>
          <p:cNvSpPr/>
          <p:nvPr/>
        </p:nvSpPr>
        <p:spPr>
          <a:xfrm>
            <a:off x="563513" y="670572"/>
            <a:ext cx="1098753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Data-Driven Next Steps to Maximize Revenue &amp; Operational Efficiency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07A724-0D7F-3117-60BC-CBB3A6BBF59F}"/>
              </a:ext>
            </a:extLst>
          </p:cNvPr>
          <p:cNvSpPr/>
          <p:nvPr/>
        </p:nvSpPr>
        <p:spPr>
          <a:xfrm>
            <a:off x="419781" y="1418587"/>
            <a:ext cx="314814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Revenue &amp; Inventory Strategy (Sales &amp; Marketing)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A3C179-B02F-5865-F95B-C46DD7C2FD7B}"/>
              </a:ext>
            </a:extLst>
          </p:cNvPr>
          <p:cNvSpPr/>
          <p:nvPr/>
        </p:nvSpPr>
        <p:spPr>
          <a:xfrm>
            <a:off x="178839" y="1959765"/>
            <a:ext cx="3148149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Demand-Driven Growth: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A8DE0D-6AC8-5784-43E2-E451043AC881}"/>
              </a:ext>
            </a:extLst>
          </p:cNvPr>
          <p:cNvSpPr txBox="1"/>
          <p:nvPr/>
        </p:nvSpPr>
        <p:spPr>
          <a:xfrm>
            <a:off x="4481633" y="2166385"/>
            <a:ext cx="28615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  <a:latin typeface="Bell MT" panose="02020503060305020303" pitchFamily="18" charset="0"/>
              </a:rPr>
              <a:t> Shift Away from Blanket Discounts: Flat discounting shows a weak correlation (-0.07) with total order value and does not increase basket size.</a:t>
            </a:r>
          </a:p>
          <a:p>
            <a:endParaRPr lang="en-US" sz="13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  <a:latin typeface="Bell MT" panose="02020503060305020303" pitchFamily="18" charset="0"/>
              </a:rPr>
              <a:t>Implement Smart Bundling: Pair slow-moving categories (Grocery/Books) with high-performing Electronics to boost average order value.</a:t>
            </a:r>
          </a:p>
          <a:p>
            <a:endParaRPr lang="en-US" sz="13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  <a:latin typeface="Bell MT" panose="02020503060305020303" pitchFamily="18" charset="0"/>
              </a:rPr>
              <a:t>Focus on High-Unit-Value Items: Capitalize on Unit Price (0.73 correlation) as the primary positive driver of gross sales.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B39207-F525-47A6-20A8-2739A510A4A3}"/>
              </a:ext>
            </a:extLst>
          </p:cNvPr>
          <p:cNvSpPr/>
          <p:nvPr/>
        </p:nvSpPr>
        <p:spPr>
          <a:xfrm>
            <a:off x="4483203" y="1466896"/>
            <a:ext cx="314814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 Pricing &amp; Margin Optimization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5D37DB-5288-88FB-CDB5-433013CF9DB7}"/>
              </a:ext>
            </a:extLst>
          </p:cNvPr>
          <p:cNvSpPr/>
          <p:nvPr/>
        </p:nvSpPr>
        <p:spPr>
          <a:xfrm>
            <a:off x="8554618" y="1418586"/>
            <a:ext cx="314814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Operations &amp; Logistics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FA8DFF-4CC6-92A2-D832-BE8E766BD781}"/>
              </a:ext>
            </a:extLst>
          </p:cNvPr>
          <p:cNvSpPr/>
          <p:nvPr/>
        </p:nvSpPr>
        <p:spPr>
          <a:xfrm>
            <a:off x="8263432" y="1905848"/>
            <a:ext cx="3148149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Supply Chain Efficiency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D51A8F-F34B-B364-0D55-893CF4C2FD6F}"/>
              </a:ext>
            </a:extLst>
          </p:cNvPr>
          <p:cNvSpPr/>
          <p:nvPr/>
        </p:nvSpPr>
        <p:spPr>
          <a:xfrm>
            <a:off x="4252859" y="1884801"/>
            <a:ext cx="3148149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ell MT" panose="02020503060305020303" pitchFamily="18" charset="0"/>
              </a:rPr>
              <a:t>Pricing &amp; Profitability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D9D438-39C3-1B8C-E40B-D711E903B5B0}"/>
              </a:ext>
            </a:extLst>
          </p:cNvPr>
          <p:cNvSpPr txBox="1"/>
          <p:nvPr/>
        </p:nvSpPr>
        <p:spPr>
          <a:xfrm>
            <a:off x="8429907" y="2248535"/>
            <a:ext cx="2861500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  <a:latin typeface="Bell MT" panose="02020503060305020303" pitchFamily="18" charset="0"/>
              </a:rPr>
              <a:t> Improve Delivery Success Rate: Upgrade courier partner SLAs to push the current 54.82% delivery success rate toward industry benchmarks.</a:t>
            </a:r>
          </a:p>
          <a:p>
            <a:endParaRPr lang="en-US" sz="13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  <a:latin typeface="Bell MT" panose="02020503060305020303" pitchFamily="18" charset="0"/>
              </a:rPr>
              <a:t> Regional Fulfillment Hubs: Establish local fulfillment centers in top-tier cities (Abu Dhabi &amp; Dubai) to shorten shipping times.</a:t>
            </a:r>
          </a:p>
          <a:p>
            <a:endParaRPr lang="en-US" sz="1300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1"/>
                </a:solidFill>
                <a:latin typeface="Bell MT" panose="02020503060305020303" pitchFamily="18" charset="0"/>
              </a:rPr>
              <a:t>Mitigate Order Returns: Audit product descriptions and quality standards to reduce refund/return frequency.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089534-AF20-E4B7-474A-4B8DBC08413C}"/>
              </a:ext>
            </a:extLst>
          </p:cNvPr>
          <p:cNvSpPr txBox="1"/>
          <p:nvPr/>
        </p:nvSpPr>
        <p:spPr>
          <a:xfrm>
            <a:off x="419781" y="6297116"/>
            <a:ext cx="11717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Bell MT" panose="02020503060305020303" pitchFamily="18" charset="0"/>
              </a:rPr>
              <a:t>Expected Business Impact: "Implementing these recommendations can improve Q4 revenue capture by 25-30% and boost order delivery rates above 75%."</a:t>
            </a:r>
          </a:p>
        </p:txBody>
      </p:sp>
    </p:spTree>
    <p:extLst>
      <p:ext uri="{BB962C8B-B14F-4D97-AF65-F5344CB8AC3E}">
        <p14:creationId xmlns:p14="http://schemas.microsoft.com/office/powerpoint/2010/main" val="282960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5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5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  <p:bldP spid="19" grpId="0" animBg="1"/>
      <p:bldP spid="20" grpId="0" animBg="1"/>
      <p:bldP spid="14" grpId="0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725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Bell MT</vt:lpstr>
      <vt:lpstr>Book Antiqua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Shadab</dc:creator>
  <cp:lastModifiedBy>Mohammad Shadab</cp:lastModifiedBy>
  <cp:revision>2</cp:revision>
  <dcterms:created xsi:type="dcterms:W3CDTF">2026-08-08T16:51:43Z</dcterms:created>
  <dcterms:modified xsi:type="dcterms:W3CDTF">2026-08-09T12:06:55Z</dcterms:modified>
</cp:coreProperties>
</file>