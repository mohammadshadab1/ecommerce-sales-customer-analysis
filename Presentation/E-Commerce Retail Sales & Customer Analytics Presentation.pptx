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5" d="100"/>
          <a:sy n="55" d="100"/>
        </p:scale>
        <p:origin x="1072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image.png">
            <a:extLst>
              <a:ext uri="{FF2B5EF4-FFF2-40B4-BE49-F238E27FC236}">
                <a16:creationId xmlns:a16="http://schemas.microsoft.com/office/drawing/2014/main" id="{B9556316-4EF0-16B3-4764-66D4350E9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25" y="2011263"/>
            <a:ext cx="3333750" cy="3238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6900" y="3694211"/>
            <a:ext cx="2000250" cy="790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9550" y="3694211"/>
            <a:ext cx="2000250" cy="790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694211"/>
            <a:ext cx="2000250" cy="7905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4850" y="3694211"/>
            <a:ext cx="2000250" cy="7905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290" y="2506563"/>
            <a:ext cx="11351418" cy="525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sz="3600" b="0" i="0" u="none">
                <a:solidFill>
                  <a:srgbClr val="0F172A"/>
                </a:solidFill>
                <a:latin typeface="Inter ExtraBold"/>
              </a:rPr>
              <a:t>E-Commerce Retail Sales &amp; Customer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24162" y="3165574"/>
            <a:ext cx="65436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sz="1275" b="0" i="0" u="none">
                <a:solidFill>
                  <a:srgbClr val="64748B"/>
                </a:solidFill>
                <a:latin typeface="Inter"/>
              </a:rPr>
              <a:t>Comprehensive BI Dashboard, Category Dominance, Delivery Risk &amp; Growth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28026" y="4694336"/>
            <a:ext cx="4129088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 dirty="0">
                <a:solidFill>
                  <a:srgbClr val="64748B"/>
                </a:solidFill>
                <a:latin typeface="Inter"/>
              </a:rPr>
              <a:t>Prepared by </a:t>
            </a:r>
            <a:r>
              <a:rPr sz="975" b="1" i="0" u="none" dirty="0">
                <a:solidFill>
                  <a:srgbClr val="0F172A"/>
                </a:solidFill>
                <a:latin typeface="Inter"/>
              </a:rPr>
              <a:t>Mohammad Shadab</a:t>
            </a:r>
            <a:r>
              <a:rPr sz="975" b="0" i="0" u="none" dirty="0">
                <a:solidFill>
                  <a:srgbClr val="64748B"/>
                </a:solidFill>
                <a:latin typeface="Inter"/>
              </a:rPr>
              <a:t> | Data Analyst Portfolio Project</a:t>
            </a:r>
            <a:endParaRPr lang="en-US" sz="975" b="0" i="0" u="none" dirty="0">
              <a:solidFill>
                <a:srgbClr val="64748B"/>
              </a:solidFill>
              <a:latin typeface="Inter"/>
            </a:endParaRPr>
          </a:p>
          <a:p>
            <a:pPr algn="ctr"/>
            <a:r>
              <a:rPr lang="en-US" sz="975" dirty="0">
                <a:solidFill>
                  <a:srgbClr val="64748B"/>
                </a:solidFill>
                <a:latin typeface="Inter"/>
              </a:rPr>
              <a:t>Python • Pandas • Seaborn • Matplotlib • EDA • Power BI • Power Query • DAX</a:t>
            </a:r>
            <a:endParaRPr sz="975" dirty="0">
              <a:solidFill>
                <a:srgbClr val="64748B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66925" y="3856136"/>
            <a:ext cx="16002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0284C7"/>
                </a:solidFill>
                <a:latin typeface="Inter ExtraBold"/>
              </a:rPr>
              <a:t>$1.41M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66925" y="4189511"/>
            <a:ext cx="16002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Inter"/>
              </a:rPr>
              <a:t>GROSS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19575" y="3856136"/>
            <a:ext cx="16002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0284C7"/>
                </a:solidFill>
                <a:latin typeface="Inter ExtraBold"/>
              </a:rPr>
              <a:t>12K+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19575" y="4189511"/>
            <a:ext cx="16002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Inter"/>
              </a:rPr>
              <a:t>TOTAL 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2225" y="3856136"/>
            <a:ext cx="16002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0284C7"/>
                </a:solidFill>
                <a:latin typeface="Inter ExtraBold"/>
              </a:rPr>
              <a:t>88.47%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2225" y="4189511"/>
            <a:ext cx="16002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Inter"/>
              </a:rPr>
              <a:t>REPEAT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4875" y="3856136"/>
            <a:ext cx="160020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0284C7"/>
                </a:solidFill>
                <a:latin typeface="Inter ExtraBold"/>
              </a:rPr>
              <a:t>55%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4875" y="4189511"/>
            <a:ext cx="16002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Inter"/>
              </a:rPr>
              <a:t>DELIVERY RATE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image.png">
            <a:extLst>
              <a:ext uri="{FF2B5EF4-FFF2-40B4-BE49-F238E27FC236}">
                <a16:creationId xmlns:a16="http://schemas.microsoft.com/office/drawing/2014/main" id="{F8A803B0-0B72-292B-6720-1848C260B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437161"/>
            <a:ext cx="11029950" cy="816173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166639"/>
            <a:ext cx="3575000" cy="8971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8425" y="2166639"/>
            <a:ext cx="3575000" cy="8971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5825" y="2166639"/>
            <a:ext cx="3575149" cy="89713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3216175"/>
            <a:ext cx="3575000" cy="89713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8425" y="3216175"/>
            <a:ext cx="3575000" cy="89713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5825" y="3216175"/>
            <a:ext cx="3575149" cy="89713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53525" y="504825"/>
            <a:ext cx="2457450" cy="2381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0575" y="4570511"/>
            <a:ext cx="1118139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97706"/>
                </a:solidFill>
                <a:latin typeface="Inter"/>
              </a:rPr>
              <a:t>🎯 STRATEGIC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575" y="4761011"/>
            <a:ext cx="10648950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Exceptional customer loyalty (88.47% repeat rate) and steady annual revenue ($0.56M in 2024 and $0.57M in 2025) establish a solid foundation, though operational bottlenecks require immediate executive intervention.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347614"/>
            <a:ext cx="32130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0284C7"/>
                </a:solidFill>
                <a:latin typeface="Inter ExtraBold"/>
              </a:rPr>
              <a:t>$1.41M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2709564"/>
            <a:ext cx="3213050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Total Revenue (2024–2026)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400" y="2347614"/>
            <a:ext cx="32130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0284C7"/>
                </a:solidFill>
                <a:latin typeface="Inter ExtraBold"/>
              </a:rPr>
              <a:t>3.4K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400" y="2709564"/>
            <a:ext cx="3213050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Total Active Customers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6800" y="2347614"/>
            <a:ext cx="3213199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0284C7"/>
                </a:solidFill>
                <a:latin typeface="Inter ExtraBold"/>
              </a:rPr>
              <a:t>$117.38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6800" y="2709564"/>
            <a:ext cx="3213199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Average Order Value (AOV)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3397150"/>
            <a:ext cx="32130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0284C7"/>
                </a:solidFill>
                <a:latin typeface="Inter ExtraBold"/>
              </a:rPr>
              <a:t>24.5K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3759100"/>
            <a:ext cx="3213050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Total Items Sold (QTY)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400" y="3397150"/>
            <a:ext cx="32130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0284C7"/>
                </a:solidFill>
                <a:latin typeface="Inter ExtraBold"/>
              </a:rPr>
              <a:t>$103K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400" y="3759100"/>
            <a:ext cx="3213050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Total Discount Given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6800" y="3397150"/>
            <a:ext cx="3213199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0284C7"/>
                </a:solidFill>
                <a:latin typeface="Inter ExtraBold"/>
              </a:rPr>
              <a:t>8.46%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6800" y="3759100"/>
            <a:ext cx="3213199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Return Rate Across Orders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1025" y="438150"/>
            <a:ext cx="11581447" cy="3714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Executive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56C58E52-BB93-8F03-7565-088F3E584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2605087"/>
            <a:ext cx="5348287" cy="2209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600" y="504825"/>
            <a:ext cx="2619375" cy="2381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1525" y="2731293"/>
            <a:ext cx="515778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0284C7"/>
                </a:solidFill>
                <a:latin typeface="Inter SemiBold"/>
              </a:rPr>
              <a:t>Peak Performing Month: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March leads annual sales at </a:t>
            </a:r>
            <a:r>
              <a:rPr sz="1125" b="0" i="0" u="none">
                <a:solidFill>
                  <a:srgbClr val="16A34A"/>
                </a:solidFill>
                <a:latin typeface="Inter SemiBold"/>
              </a:rPr>
              <a:t>$144K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, closely followed by June ($140K) and April ($139K).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3274218"/>
            <a:ext cx="515778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0284C7"/>
                </a:solidFill>
                <a:latin typeface="Inter SemiBold"/>
              </a:rPr>
              <a:t>Peak Sales Day: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Thursday experiences the highest daily transaction velocity across all weeks.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3817143"/>
            <a:ext cx="515778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16A34A"/>
                </a:solidFill>
                <a:latin typeface="Inter SemiBold"/>
              </a:rPr>
              <a:t>Yearly Stability: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2024 revenue reached $0.56M and 2025 scaled to $0.57M (+2.27% growth).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4360068"/>
            <a:ext cx="5157787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DC2626"/>
                </a:solidFill>
                <a:latin typeface="Inter SemiBold"/>
              </a:rPr>
              <a:t>Cancellation Rate: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Recorded at 9.97%, requiring supply chain monitoring.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2712243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3255168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3798093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4341018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38150"/>
            <a:ext cx="11581447" cy="3714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Time-Series &amp; Sales Trends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31A7DB86-7429-F9BD-33A7-B12A7A953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483000"/>
            <a:ext cx="11029950" cy="816173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120800"/>
            <a:ext cx="5348287" cy="2209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9775" y="504825"/>
            <a:ext cx="1981200" cy="238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0575" y="4616350"/>
            <a:ext cx="1118139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97706"/>
                </a:solidFill>
                <a:latin typeface="Inter"/>
              </a:rPr>
              <a:t>💡 CATEGORY STORYTELLING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575" y="4806850"/>
            <a:ext cx="10648950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Our catalog is anchored by high-intent Electronics and Home Goods. To maximize profitability, we must protect supply chain integrity for these top two categories while bundling slower-moving items (Books, Grocery) to lift overall basket sizes.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2139850"/>
            <a:ext cx="515778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0284C7"/>
                </a:solidFill>
                <a:latin typeface="Inter SemiBold"/>
              </a:rPr>
              <a:t>Electronics Category: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Generates </a:t>
            </a:r>
            <a:r>
              <a:rPr sz="1125" b="0" i="0" u="none">
                <a:solidFill>
                  <a:srgbClr val="16A34A"/>
                </a:solidFill>
                <a:latin typeface="Inter SemiBold"/>
              </a:rPr>
              <a:t>$376K+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alone, representing nearly 27% of total company gross revenue.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2682775"/>
            <a:ext cx="515778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0284C7"/>
                </a:solidFill>
                <a:latin typeface="Inter SemiBold"/>
              </a:rPr>
              <a:t>Home &amp; Kitchen Category: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Captures </a:t>
            </a:r>
            <a:r>
              <a:rPr sz="1125" b="0" i="0" u="none">
                <a:solidFill>
                  <a:srgbClr val="16A34A"/>
                </a:solidFill>
                <a:latin typeface="Inter SemiBold"/>
              </a:rPr>
              <a:t>$275K+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, accounting for nearly 20% of sales.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3225700"/>
            <a:ext cx="515778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DC2626"/>
                </a:solidFill>
                <a:latin typeface="Inter SemiBold"/>
              </a:rPr>
              <a:t>Concentration Risk &amp; Opportunity: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Just these two core categories combine for </a:t>
            </a:r>
            <a:r>
              <a:rPr sz="1125" b="0" i="0" u="none">
                <a:solidFill>
                  <a:srgbClr val="0284C7"/>
                </a:solidFill>
                <a:latin typeface="Inter SemiBold"/>
              </a:rPr>
              <a:t>over 45%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of total gross revenue.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3768625"/>
            <a:ext cx="515778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Sports &amp; Fashion form a secondary tier (~$200K each), while Books &amp; Grocery lag behind in absolute monetary yield.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2120800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2663725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3206650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3749575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438150"/>
            <a:ext cx="11581447" cy="3714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Product Category Dominance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E6CE4547-94BE-F698-3172-827E99119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05087"/>
            <a:ext cx="5348287" cy="2209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1125" y="504825"/>
            <a:ext cx="2609850" cy="2381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53187" y="2838450"/>
            <a:ext cx="515778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0284C7"/>
                </a:solidFill>
                <a:latin typeface="Inter SemiBold"/>
              </a:rPr>
              <a:t>Volume Leaders: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</a:t>
            </a:r>
            <a:r>
              <a:rPr sz="1125" b="0" i="0" u="none">
                <a:solidFill>
                  <a:srgbClr val="16A34A"/>
                </a:solidFill>
                <a:latin typeface="Inter SemiBold"/>
              </a:rPr>
              <a:t>Cricket Bats (618 units)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and </a:t>
            </a:r>
            <a:r>
              <a:rPr sz="1125" b="0" i="0" u="none">
                <a:solidFill>
                  <a:srgbClr val="16A34A"/>
                </a:solidFill>
                <a:latin typeface="Inter SemiBold"/>
              </a:rPr>
              <a:t>Dumbbell Sets (600 units)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lead physical sales volume.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53187" y="3381375"/>
            <a:ext cx="515778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0284C7"/>
                </a:solidFill>
                <a:latin typeface="Inter SemiBold"/>
              </a:rPr>
              <a:t>Revenue Drivers: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Gaming Mouse ($47.2K), USB-C Cable ($46.9K), and Non-Stick Pan ($46K) maximize monetary yields.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3187" y="3924300"/>
            <a:ext cx="5157787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0284C7"/>
                </a:solidFill>
                <a:latin typeface="Inter SemiBold"/>
              </a:rPr>
              <a:t>Flagship Item: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Power Bank emerges as a top cross-category best-seller.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3187" y="4252912"/>
            <a:ext cx="5157787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Electronics &amp; Home Goods continue to anchor total basket values.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2687" y="2819400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2687" y="3362325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2687" y="3905250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2687" y="4233862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38150"/>
            <a:ext cx="11581447" cy="3714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Product Intelligence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71255DED-CBAC-37F0-1605-79E41D864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483000"/>
            <a:ext cx="11029950" cy="816173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120800"/>
            <a:ext cx="5348287" cy="2209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3525" y="504825"/>
            <a:ext cx="2457450" cy="238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0575" y="4616350"/>
            <a:ext cx="1118139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C2626"/>
                </a:solidFill>
                <a:latin typeface="Inter"/>
              </a:rPr>
              <a:t>🚨 URGENT OPERATIONAL ACTION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575" y="4806850"/>
            <a:ext cx="10648950" cy="358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A 55% delivery fulfillment rate creates severe customer dissatisfaction and stalls cash conversion. Establishing regional micro-fulfillment hubs will instantly mitigate transit delays and recover the $163K at-risk revenue.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2139850"/>
            <a:ext cx="515778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DC2626"/>
                </a:solidFill>
                <a:latin typeface="Inter SemiBold"/>
              </a:rPr>
              <a:t>Critical Vulnerability: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The overall delivery success rate stands at only </a:t>
            </a:r>
            <a:r>
              <a:rPr sz="1125" b="0" i="0" u="none">
                <a:solidFill>
                  <a:srgbClr val="DC2626"/>
                </a:solidFill>
                <a:latin typeface="Inter SemiBold"/>
              </a:rPr>
              <a:t>54.82%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, representing a major friction point in customer experience.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2682775"/>
            <a:ext cx="515778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DC2626"/>
                </a:solidFill>
                <a:latin typeface="Inter SemiBold"/>
              </a:rPr>
              <a:t>Revenue at Risk: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Over </a:t>
            </a:r>
            <a:r>
              <a:rPr sz="1125" b="0" i="0" u="none">
                <a:solidFill>
                  <a:srgbClr val="DC2626"/>
                </a:solidFill>
                <a:latin typeface="Inter SemiBold"/>
              </a:rPr>
              <a:t>$163K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in potential revenue is currently trapped in pending and shipping statuses.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3225700"/>
            <a:ext cx="515778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0284C7"/>
                </a:solidFill>
                <a:latin typeface="Inter SemiBold"/>
              </a:rPr>
              <a:t>Order Breakdown: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6.58K delivered successfully, 1.82K shipped, 1.40K pending, 1.20K cancelled, and 1.02K returned.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3768625"/>
            <a:ext cx="515778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Return rate is recorded at 8.46%, pointing to specific product quality verification needs before dispatch.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2120800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2663725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3206650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3749575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438150"/>
            <a:ext cx="11581447" cy="3714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Operational Deep Dive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5A85A9F6-64DE-78C7-5A33-7CCA189B5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2605087"/>
            <a:ext cx="5348287" cy="2209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7875" y="504825"/>
            <a:ext cx="1943100" cy="2381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1525" y="2895600"/>
            <a:ext cx="515778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0284C7"/>
                </a:solidFill>
                <a:latin typeface="Inter SemiBold"/>
              </a:rPr>
              <a:t>Top City by Revenue: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</a:t>
            </a:r>
            <a:r>
              <a:rPr sz="1125" b="0" i="0" u="none">
                <a:solidFill>
                  <a:srgbClr val="16A34A"/>
                </a:solidFill>
                <a:latin typeface="Inter SemiBold"/>
              </a:rPr>
              <a:t>Abu Dhabi ($108K)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and </a:t>
            </a:r>
            <a:r>
              <a:rPr sz="1125" b="0" i="0" u="none">
                <a:solidFill>
                  <a:srgbClr val="16A34A"/>
                </a:solidFill>
                <a:latin typeface="Inter SemiBold"/>
              </a:rPr>
              <a:t>Dubai ($94K)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capture primary Middle Eastern market share.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3438525"/>
            <a:ext cx="515778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International hubs like Hamburg ($71K), Melbourne ($67K), and London ($67K) demonstrate strong European and APAC traction.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3981450"/>
            <a:ext cx="515778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Country distribution across UAE, UK, Germany, India, USA, Canada, and Australia shows balanced global demand.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2876550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3419475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3962400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438150"/>
            <a:ext cx="11581447" cy="3714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Geographic &amp; City Insights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EC83B3C9-E4DD-888B-2B18-2778373AD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090862"/>
            <a:ext cx="5348287" cy="12382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8325" y="504825"/>
            <a:ext cx="2152650" cy="2381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53187" y="2624137"/>
            <a:ext cx="515778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16A34A"/>
                </a:solidFill>
                <a:latin typeface="Inter SemiBold"/>
              </a:rPr>
              <a:t>Exceptional Loyalty: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88.47% repeat customer rate demonstrates world-class brand equity and product satisfaction.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53187" y="3167062"/>
            <a:ext cx="515778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0284C7"/>
                </a:solidFill>
                <a:latin typeface="Inter SemiBold"/>
              </a:rPr>
              <a:t>Average Order Quantity: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2.04 items per transaction, indicating healthy multi-item basket additions.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3187" y="3709987"/>
            <a:ext cx="515778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Average Discount provided sits at 6.87%, maintaining healthy gross operating margins.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3187" y="4252912"/>
            <a:ext cx="515778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Payment gateway adoption is evenly balanced across Credit Card, COD, UPI, and Netbanking.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2687" y="2605087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2687" y="3148012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2687" y="3690937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2687" y="4233862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38150"/>
            <a:ext cx="11581447" cy="3714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Customer Retention &amp; Demographics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1B854AC5-734B-B7E0-711F-8395A2385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43162"/>
            <a:ext cx="5348287" cy="25336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4025" y="504825"/>
            <a:ext cx="2266950" cy="2381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53187" y="2895600"/>
            <a:ext cx="515778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0284C7"/>
                </a:solidFill>
                <a:latin typeface="Inter SemiBold"/>
              </a:rPr>
              <a:t>Balanced Adoption: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Payment distribution is exceptionally uniform across all 6 primary gateways (~16% to 17% each).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53187" y="3438525"/>
            <a:ext cx="515778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16A34A"/>
                </a:solidFill>
                <a:latin typeface="Inter SemiBold"/>
              </a:rPr>
              <a:t>Low Gateway Risk: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No single payment provider poses dependency risk, ensuring smooth global transactions.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3187" y="3981450"/>
            <a:ext cx="515778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Cash on Delivery (COD) accounts for 17.25%, aligning with regional preferences in Middle Eastern markets.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2687" y="2876550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2687" y="3419475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2687" y="3962400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438150"/>
            <a:ext cx="11581447" cy="3714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Payment Gateway Distribution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44853463-AE8F-B491-1C56-93D7B3672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2605087"/>
            <a:ext cx="5348287" cy="2209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875" y="504825"/>
            <a:ext cx="2324100" cy="2381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1525" y="2895600"/>
            <a:ext cx="515778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0284C7"/>
                </a:solidFill>
                <a:latin typeface="Inter SemiBold"/>
              </a:rPr>
              <a:t>Discount Correlation: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Correlation between discount percentage and sales volume is very weak (r = -0.07).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3438525"/>
            <a:ext cx="515778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DC2626"/>
                </a:solidFill>
                <a:latin typeface="Inter SemiBold"/>
              </a:rPr>
              <a:t>Blanket Discounts Ineffective: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High discounts do not automatically trigger higher sales volume.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3981450"/>
            <a:ext cx="515778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16A34A"/>
                </a:solidFill>
                <a:latin typeface="Inter SemiBold"/>
              </a:rPr>
              <a:t>Optimal Yield: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0% to 5% discount brackets capture the largest share of revenue ($606K).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2876550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3419475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3962400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438150"/>
            <a:ext cx="11581447" cy="3714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Pricing &amp; Discount Dynamics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1E004D0C-E686-61DD-7219-948E64210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928937"/>
            <a:ext cx="5348287" cy="15621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3575" y="504825"/>
            <a:ext cx="2057400" cy="2381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53187" y="3002756"/>
            <a:ext cx="515778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16A34A"/>
                </a:solidFill>
                <a:latin typeface="Inter SemiBold"/>
              </a:rPr>
              <a:t>Consistent Growth: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2025 scaled to $0.57M representing a healthy +2.27% YoY growth over 2024 ($0.56M).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53187" y="3545681"/>
            <a:ext cx="5157787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0284C7"/>
                </a:solidFill>
                <a:latin typeface="Inter SemiBold"/>
              </a:rPr>
              <a:t>YTD 2026: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Already records $0.27M in cumulative gross transactions.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3187" y="3874293"/>
            <a:ext cx="515778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Strong foundation for Q4 holiday push to exceed previous years' benchmarks.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2687" y="2983706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2687" y="3526631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2687" y="3855243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438150"/>
            <a:ext cx="11581447" cy="3714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Year-over-Year Performance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9B65DD3D-E733-D64D-9E22-74CF74682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3216919"/>
            <a:ext cx="5348287" cy="99566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2075" y="504825"/>
            <a:ext cx="2628900" cy="2381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1525" y="2681287"/>
            <a:ext cx="5157787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0284C7"/>
                </a:solidFill>
                <a:latin typeface="Inter SemiBold"/>
              </a:rPr>
              <a:t>The Growth Paradox: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While top-line revenue ($1.41M) and repeat customer rate (88%) are world-class, fulfillment friction threatens long-term brand advocacy.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3438525"/>
            <a:ext cx="5157787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0284C7"/>
                </a:solidFill>
                <a:latin typeface="Inter SemiBold"/>
              </a:rPr>
              <a:t>Category Leverage: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Electronics and Home Goods act as customer acquisition magnets; cross-selling accessories into these baskets will maximize margin yield.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4195762"/>
            <a:ext cx="515778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DC2626"/>
                </a:solidFill>
                <a:latin typeface="Inter SemiBold"/>
              </a:rPr>
              <a:t>Operational Fix: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Resolving the 45% delivery lag is the single highest ROI lever available to management.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2237" y="3350269"/>
            <a:ext cx="521565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97706"/>
                </a:solidFill>
                <a:latin typeface="Inter"/>
              </a:rPr>
              <a:t>🎯 THE EXECUTIVE NARRATIVE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2237" y="3540769"/>
            <a:ext cx="4967287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"We have proven product-market fit across global hubs and achieved extraordinary brand loyalty. The next phase is operational excellence: securing our supply chain to convert pending orders into delivered revenue."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2662237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3419475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4176712"/>
            <a:ext cx="104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284C7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38150"/>
            <a:ext cx="11581447" cy="3714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Strategic Narrative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image.png">
            <a:extLst>
              <a:ext uri="{FF2B5EF4-FFF2-40B4-BE49-F238E27FC236}">
                <a16:creationId xmlns:a16="http://schemas.microsoft.com/office/drawing/2014/main" id="{5CC333FA-B3B6-068A-51B6-7D8DECE0C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90775"/>
            <a:ext cx="11029950" cy="26384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0" y="504825"/>
            <a:ext cx="1133475" cy="23812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0550" y="2400300"/>
            <a:ext cx="11010900" cy="26193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0550" y="2400300"/>
          <a:ext cx="11010899" cy="2619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4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1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6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4843"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Strategic Focus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Recommended Action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Inter SemiBold"/>
                        </a:rPr>
                        <a:t>Expected Impact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843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📈 Demand Scaling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Increase inventory allocation for March/June seasonal peaks and top categories (Electronics &amp; Home Goods).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Maximize top-line revenue capture without stockouts.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843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🚚 Fulfillment Audit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Establish regional micro-fulfillment centers in Abu Dhabi and Dubai to reduce transit friction.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Recover $163K pending revenue and improve delivery success rate above 75%.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846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🔄 Retention Engine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Leverage the 88.47% repeat customer rate with personalized loyalty rewards and VIP tiers.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475569"/>
                          </a:solidFill>
                          <a:latin typeface="Inter"/>
                        </a:rPr>
                        <a:t>Sustain high customer lifetime value (LTV) and recurring orders.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90550" y="2976562"/>
            <a:ext cx="14247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015281" y="2976562"/>
            <a:ext cx="54715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86798" y="2976562"/>
            <a:ext cx="41146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0550" y="3652837"/>
            <a:ext cx="14247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015281" y="3652837"/>
            <a:ext cx="54715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486798" y="3652837"/>
            <a:ext cx="41146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0550" y="4329112"/>
            <a:ext cx="14247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15281" y="4329112"/>
            <a:ext cx="54715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86798" y="4329112"/>
            <a:ext cx="41146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0550" y="5005387"/>
            <a:ext cx="142473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015281" y="5005387"/>
            <a:ext cx="54715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86798" y="5005387"/>
            <a:ext cx="41146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1025" y="438150"/>
            <a:ext cx="11581447" cy="3714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Strategic Recommendations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E73FCDC0-ED78-29A6-8487-EDEFDC204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125" y="3636168"/>
            <a:ext cx="2143125" cy="3714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650" y="3636168"/>
            <a:ext cx="2838450" cy="371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0" y="3636168"/>
            <a:ext cx="2619375" cy="3714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90861" y="2426493"/>
            <a:ext cx="2210276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150" b="0" i="0" u="none">
                <a:solidFill>
                  <a:srgbClr val="0F172A"/>
                </a:solidFill>
                <a:latin typeface="Inter ExtraBold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62250" y="3026568"/>
            <a:ext cx="6667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Let's connect to discuss advanced data analytics, Power BI reporting, and growth strategies!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1512" y="4245768"/>
            <a:ext cx="32289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Created with ❤️ by </a:t>
            </a:r>
            <a:r>
              <a:rPr sz="975" b="1" i="0" u="none">
                <a:solidFill>
                  <a:srgbClr val="64748B"/>
                </a:solidFill>
                <a:latin typeface="Inter"/>
              </a:rPr>
              <a:t>Mohammad Shadab</a:t>
            </a:r>
            <a:r>
              <a:rPr sz="975" b="0" i="0" u="none">
                <a:solidFill>
                  <a:srgbClr val="64748B"/>
                </a:solidFill>
                <a:latin typeface="Inter"/>
              </a:rPr>
              <a:t> | Data Analyst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24100" y="3740943"/>
            <a:ext cx="1619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334155"/>
                </a:solidFill>
                <a:latin typeface="Inter"/>
              </a:rPr>
              <a:t>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740943"/>
            <a:ext cx="1619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334155"/>
                </a:solidFill>
                <a:latin typeface="Inter"/>
              </a:rPr>
              <a:t>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0475" y="3740943"/>
            <a:ext cx="1619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334155"/>
                </a:solidFill>
                <a:latin typeface="Inter"/>
              </a:rPr>
              <a:t>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1094</Words>
  <Application>Microsoft Office PowerPoint</Application>
  <PresentationFormat>Widescreen</PresentationFormat>
  <Paragraphs>132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Inter</vt:lpstr>
      <vt:lpstr>Inter ExtraBold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Mohammad Shadab</cp:lastModifiedBy>
  <cp:revision>3</cp:revision>
  <dcterms:created xsi:type="dcterms:W3CDTF">2013-01-27T09:14:16Z</dcterms:created>
  <dcterms:modified xsi:type="dcterms:W3CDTF">2026-08-20T12:56:21Z</dcterms:modified>
  <cp:category/>
</cp:coreProperties>
</file>