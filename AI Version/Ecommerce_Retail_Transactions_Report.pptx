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0" y="-1371600"/>
            <a:ext cx="5486400" cy="54864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01200" y="4114800"/>
            <a:ext cx="2743200" cy="2743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  <a:latin typeface="Calibri"/>
              </a:defRPr>
            </a:pPr>
            <a:r>
              <a:t>ECOMMERCE RETAIL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FULL ANALYTICS</a:t>
            </a:r>
            <a:br/>
            <a:r>
              <a:t>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09728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  <a:latin typeface="Calibri"/>
              </a:defRPr>
            </a:pPr>
            <a:r>
              <a:t>12,180 Orders  •  Jan 2024 – Jun 2026  •  8 Categories  •  7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7FF"/>
                </a:solidFill>
                <a:latin typeface="Calibri"/>
              </a:defRPr>
            </a:pPr>
            <a:r>
              <a:t>Revenue, fulfillment, product &amp; customer insights with 10 chart analyses. Data cleaned, anomalies flagged, and strategic recommendations prioritized.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15087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8A"/>
                </a:solidFill>
                <a:latin typeface="Calibri"/>
              </a:defRPr>
            </a:pPr>
            <a:r>
              <a:t>$1.42M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  <a:latin typeface="Calibri"/>
              </a:defRPr>
            </a:pPr>
            <a:r>
              <a:t>NET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4206240"/>
            <a:ext cx="15087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4251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8A"/>
                </a:solidFill>
                <a:latin typeface="Calibri"/>
              </a:defRPr>
            </a:pPr>
            <a:r>
              <a:t>11,988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6177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  <a:latin typeface="Calibri"/>
              </a:defRPr>
            </a:pPr>
            <a:r>
              <a:t>VALID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4206240"/>
            <a:ext cx="15087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4251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8A"/>
                </a:solidFill>
                <a:latin typeface="Calibri"/>
              </a:defRPr>
            </a:pPr>
            <a:r>
              <a:t>54.8%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6177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  <a:latin typeface="Calibri"/>
              </a:defRPr>
            </a:pPr>
            <a:r>
              <a:t>DELIVERED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4206240"/>
            <a:ext cx="15087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4251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8A"/>
                </a:solidFill>
                <a:latin typeface="Calibri"/>
              </a:defRPr>
            </a:pPr>
            <a:r>
              <a:t>3.90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6177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  <a:latin typeface="Calibri"/>
              </a:defRPr>
            </a:pPr>
            <a:r>
              <a:t>AVG 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3C5FD"/>
                </a:solidFill>
                <a:latin typeface="Calibri"/>
              </a:defRPr>
            </a:pPr>
            <a:r>
              <a:t>Confidential  •  Generated 21 Aug 2026  •  Source: ecommerce_retail_transactions_raw.csv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548640"/>
            <a:ext cx="3931920" cy="5760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at_r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777240"/>
            <a:ext cx="3657600" cy="21945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18120" y="3063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  <a:latin typeface="Calibri"/>
              </a:defRPr>
            </a:pPr>
            <a:r>
              <a:t>Revenue by Category → Electronics leads at $385k</a:t>
            </a:r>
          </a:p>
        </p:txBody>
      </p:sp>
      <p:pic>
        <p:nvPicPr>
          <p:cNvPr id="25" name="Picture 24" descr="status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4290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ECOMMERCE ANALYTICS  •  FULL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FDBFE"/>
                </a:solidFill>
                <a:latin typeface="Calibri"/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8A"/>
                </a:solidFill>
                <a:latin typeface="Calibri"/>
              </a:defRPr>
            </a:pPr>
            <a:r>
              <a:t>Contents &amp; Data Quality Foundation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840480" cy="5212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3A8A"/>
                </a:solidFill>
                <a:latin typeface="Calibri"/>
              </a:defRPr>
            </a:pPr>
            <a:r>
              <a:t>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563EB"/>
                </a:solidFill>
                <a:latin typeface="Calibri"/>
              </a:defRPr>
            </a:pPr>
            <a:r>
              <a:t>01  Dataset Overview &amp; Quality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8424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Calibri"/>
              </a:defRPr>
            </a:pPr>
            <a:r>
              <a:t>02  Revenue &amp; Category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7685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Calibri"/>
              </a:defRPr>
            </a:pPr>
            <a:r>
              <a:t>03  Fulfillment &amp; Order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946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Calibri"/>
              </a:defRPr>
            </a:pPr>
            <a:r>
              <a:t>04  Temporal Trends &amp; Seasonality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620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Calibri"/>
              </a:defRPr>
            </a:pPr>
            <a:r>
              <a:t>05  Product &amp; Customer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Calibri"/>
              </a:defRPr>
            </a:pPr>
            <a:r>
              <a:t>06  Geographic &amp; Payment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4728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Calibri"/>
              </a:defRPr>
            </a:pPr>
            <a:r>
              <a:t>07  Discount &amp; Anomaly Diagnostics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3989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  <a:latin typeface="Calibri"/>
              </a:defRPr>
            </a:pPr>
            <a:r>
              <a:t>08  Recommendations &amp; Appendix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Key definition:</a:t>
            </a:r>
            <a:br/>
            <a:r>
              <a:t>Net Revenue = Qty × Unit Price × (1 – Discount%). Invalid Qty (≤0) excluded from KPIs but retained as anomaly.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18872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Calibri"/>
              </a:defRPr>
            </a:pPr>
            <a:r>
              <a:t>Data Quality Audit — 12,180 rows, 30 months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508760"/>
            <a:ext cx="256032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Issue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508760"/>
            <a:ext cx="146304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Frequency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508760"/>
            <a:ext cx="292608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Treatment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1819656"/>
            <a:ext cx="2560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650" b="0">
                <a:solidFill>
                  <a:srgbClr val="0F172A"/>
                </a:solidFill>
                <a:latin typeface="Calibri"/>
              </a:defRPr>
            </a:pPr>
            <a:r>
              <a:t>Mixed date formats (6+)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1819656"/>
            <a:ext cx="146304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1819656"/>
            <a:ext cx="29260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Unified → ISO YYYY-MM-DD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2075688"/>
            <a:ext cx="256032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650" b="0">
                <a:solidFill>
                  <a:srgbClr val="0F172A"/>
                </a:solidFill>
                <a:latin typeface="Calibri"/>
              </a:defRPr>
            </a:pPr>
            <a:r>
              <a:t>Quantity ≤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2075688"/>
            <a:ext cx="14630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192 (1.58%)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075688"/>
            <a:ext cx="29260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Flagged InvalidQty; Rev=0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331720"/>
            <a:ext cx="2560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650" b="0">
                <a:solidFill>
                  <a:srgbClr val="0F172A"/>
                </a:solidFill>
                <a:latin typeface="Calibri"/>
              </a:defRPr>
            </a:pPr>
            <a:r>
              <a:t>Discount NaN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2331720"/>
            <a:ext cx="146304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4,834 (39.7%)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2331720"/>
            <a:ext cx="29260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Filled 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2587752"/>
            <a:ext cx="256032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650" b="0">
                <a:solidFill>
                  <a:srgbClr val="0F172A"/>
                </a:solidFill>
                <a:latin typeface="Calibri"/>
              </a:defRPr>
            </a:pPr>
            <a:r>
              <a:t>Rating missing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2587752"/>
            <a:ext cx="14630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6,150 (50.5%)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2587752"/>
            <a:ext cx="29260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Avg on non-null only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2843784"/>
            <a:ext cx="2560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650" b="0">
                <a:solidFill>
                  <a:srgbClr val="0F172A"/>
                </a:solidFill>
                <a:latin typeface="Calibri"/>
              </a:defRPr>
            </a:pPr>
            <a:r>
              <a:t>Payment variants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2843784"/>
            <a:ext cx="146304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12 → 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2843784"/>
            <a:ext cx="29260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Normalized (PayPal, UPI…)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3099816"/>
            <a:ext cx="256032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650" b="0">
                <a:solidFill>
                  <a:srgbClr val="0F172A"/>
                </a:solidFill>
                <a:latin typeface="Calibri"/>
              </a:defRPr>
            </a:pPr>
            <a:r>
              <a:t>Country variants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3099816"/>
            <a:ext cx="14630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20 → 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3099816"/>
            <a:ext cx="29260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Mapped to 7+Unknown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3355848"/>
            <a:ext cx="25603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650" b="0">
                <a:solidFill>
                  <a:srgbClr val="0F172A"/>
                </a:solidFill>
                <a:latin typeface="Calibri"/>
              </a:defRPr>
            </a:pPr>
            <a:r>
              <a:t>Blank city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23760" y="3355848"/>
            <a:ext cx="146304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~120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8240" y="3355848"/>
            <a:ext cx="29260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 b="0">
                <a:solidFill>
                  <a:srgbClr val="0F172A"/>
                </a:solidFill>
                <a:latin typeface="Calibri"/>
              </a:defRPr>
            </a:pPr>
            <a:r>
              <a:t>Unknown for city only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0" y="4206240"/>
            <a:ext cx="1691640" cy="54864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3A8A"/>
                </a:solidFill>
                <a:latin typeface="Calibri"/>
              </a:defRPr>
            </a:pPr>
            <a:r>
              <a:t>12,180</a:t>
            </a:r>
            <a:br/>
            <a:r>
              <a:t>TOTAL ROWS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4206240"/>
            <a:ext cx="1691640" cy="54864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3A8A"/>
                </a:solidFill>
                <a:latin typeface="Calibri"/>
              </a:defRPr>
            </a:pPr>
            <a:r>
              <a:t>98.4%</a:t>
            </a:r>
            <a:br/>
            <a:r>
              <a:t>VALID QTY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4206240"/>
            <a:ext cx="1691640" cy="54864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3A8A"/>
                </a:solidFill>
                <a:latin typeface="Calibri"/>
              </a:defRPr>
            </a:pPr>
            <a:r>
              <a:t>$118.37</a:t>
            </a:r>
            <a:br/>
            <a:r>
              <a:t>AOV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21240" y="4206240"/>
            <a:ext cx="1691640" cy="548640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E3A8A"/>
                </a:solidFill>
                <a:latin typeface="Calibri"/>
              </a:defRPr>
            </a:pPr>
            <a:r>
              <a:t>$1.53M</a:t>
            </a:r>
            <a:br/>
            <a:r>
              <a:t>GROSS → $1.42M NET</a:t>
            </a:r>
          </a:p>
        </p:txBody>
      </p:sp>
      <p:pic>
        <p:nvPicPr>
          <p:cNvPr id="46" name="Picture 45" descr="qua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892040"/>
            <a:ext cx="3840480" cy="1371600"/>
          </a:xfrm>
          <a:prstGeom prst="rect">
            <a:avLst/>
          </a:prstGeom>
        </p:spPr>
      </p:pic>
      <p:pic>
        <p:nvPicPr>
          <p:cNvPr id="47" name="Picture 46" descr="dis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892040"/>
            <a:ext cx="329184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REVENUE &amp; CATEGORY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FDBFE"/>
                </a:solidFill>
                <a:latin typeface="Calibri"/>
              </a:defRPr>
            </a:pPr>
            <a: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Revenue is concentrated — orders are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Electronics + Home &amp; Kitchen = 46.9% of revenue with only 26% of orders by count parity</a:t>
            </a:r>
          </a:p>
        </p:txBody>
      </p:sp>
      <p:pic>
        <p:nvPicPr>
          <p:cNvPr id="7" name="Picture 6" descr="cat_r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217920" cy="3383280"/>
          </a:xfrm>
          <a:prstGeom prst="rect">
            <a:avLst/>
          </a:prstGeom>
        </p:spPr>
      </p:pic>
      <p:pic>
        <p:nvPicPr>
          <p:cNvPr id="8" name="Picture 7" descr="cat_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5303520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4983480"/>
            <a:ext cx="11430000" cy="1508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50" b="0">
                <a:solidFill>
                  <a:srgbClr val="0F172A"/>
                </a:solidFill>
                <a:latin typeface="Calibri"/>
              </a:defRPr>
            </a:pPr>
            <a:r>
              <a:t>INSIGHTS &amp; ACTIONS:</a:t>
            </a:r>
            <a:br/>
            <a:r>
              <a:t>• Electronics AOV ~$255 (2.1× overall) — pricing power, protect stock</a:t>
            </a:r>
            <a:br/>
            <a:r>
              <a:t>• Order counts flat (1,456–1,568) → marketing balanced, margin variance is price/discount</a:t>
            </a:r>
            <a:br/>
            <a:r>
              <a:t>• Grocery $31 avg — bundle to lift basket; test +5% on low-elasticity Power Bank/Smartwatch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ORDER STATUS &amp; FULFILLMENT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FDBFE"/>
                </a:solidFill>
                <a:latin typeface="Calibri"/>
              </a:defRPr>
            </a:pPr>
            <a: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Only 54.8% Delivered — $637k at risk</a:t>
            </a:r>
          </a:p>
        </p:txBody>
      </p:sp>
      <p:pic>
        <p:nvPicPr>
          <p:cNvPr id="6" name="Picture 5" descr="statu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754880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0" y="1280160"/>
            <a:ext cx="164592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280160"/>
            <a:ext cx="109728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280160"/>
            <a:ext cx="91440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Share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591056"/>
            <a:ext cx="16459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Delivered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591056"/>
            <a:ext cx="10972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F172A"/>
                </a:solidFill>
                <a:latin typeface="Calibri"/>
              </a:defRPr>
            </a:pPr>
            <a:r>
              <a:t>6,673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591056"/>
            <a:ext cx="9144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F172A"/>
                </a:solidFill>
                <a:latin typeface="Calibri"/>
              </a:defRPr>
            </a:pPr>
            <a:r>
              <a:t>54.8%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865376"/>
            <a:ext cx="164592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Shipped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865376"/>
            <a:ext cx="109728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F172A"/>
                </a:solidFill>
                <a:latin typeface="Calibri"/>
              </a:defRPr>
            </a:pPr>
            <a:r>
              <a:t>1,848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865376"/>
            <a:ext cx="91440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F172A"/>
                </a:solidFill>
                <a:latin typeface="Calibri"/>
              </a:defRPr>
            </a:pPr>
            <a:r>
              <a:t>15.2%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139696"/>
            <a:ext cx="16459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Pending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139696"/>
            <a:ext cx="10972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F172A"/>
                </a:solidFill>
                <a:latin typeface="Calibri"/>
              </a:defRPr>
            </a:pPr>
            <a:r>
              <a:t>1,416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2139696"/>
            <a:ext cx="9144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F172A"/>
                </a:solidFill>
                <a:latin typeface="Calibri"/>
              </a:defRPr>
            </a:pPr>
            <a:r>
              <a:t>11.6%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2414015"/>
            <a:ext cx="164592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Cancelled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414015"/>
            <a:ext cx="109728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F172A"/>
                </a:solidFill>
                <a:latin typeface="Calibri"/>
              </a:defRPr>
            </a:pPr>
            <a:r>
              <a:t>1,207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2414015"/>
            <a:ext cx="914400" cy="2560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F172A"/>
                </a:solidFill>
                <a:latin typeface="Calibri"/>
              </a:defRPr>
            </a:pPr>
            <a:r>
              <a:t>9.9%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2688336"/>
            <a:ext cx="164592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Returned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2688336"/>
            <a:ext cx="109728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F172A"/>
                </a:solidFill>
                <a:latin typeface="Calibri"/>
              </a:defRPr>
            </a:pPr>
            <a:r>
              <a:t>1,036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2688336"/>
            <a:ext cx="9144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0F172A"/>
                </a:solidFill>
                <a:latin typeface="Calibri"/>
              </a:defRPr>
            </a:pPr>
            <a:r>
              <a:t>8.5%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3154680"/>
            <a:ext cx="3657600" cy="1600200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3246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F172A"/>
                </a:solidFill>
                <a:latin typeface="Calibri"/>
              </a:defRPr>
            </a:pPr>
            <a:r>
              <a:t>RISK FOCUS:</a:t>
            </a:r>
            <a:br/>
            <a:r>
              <a:t>• Shipped + Pending = 26.8% in-transit bottleneck</a:t>
            </a:r>
            <a:br/>
            <a:r>
              <a:t>• Cancelled + Returned = 18.4% (return 2× benchmark)</a:t>
            </a:r>
            <a:br/>
            <a:r>
              <a:t>• Action: SLA dashboard, stock-accuracy &amp; quality audit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280160"/>
            <a:ext cx="2286000" cy="3474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E3A8A"/>
                </a:solidFill>
                <a:latin typeface="Calibri"/>
              </a:defRPr>
            </a:pPr>
            <a:r>
              <a:t>REALIZED vs AT-RISK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$782k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2057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Delivered (55.1%)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Calibri"/>
              </a:defRPr>
            </a:pPr>
            <a:r>
              <a:t>$637k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2926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Not delivered (44.9%)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F172A"/>
                </a:solidFill>
                <a:latin typeface="Calibri"/>
              </a:defRPr>
            </a:pPr>
            <a:r>
              <a:t>Target: Delivered &gt;85%</a:t>
            </a:r>
            <a:br/>
            <a:r>
              <a:t>Pending &lt;5%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TEMPORAL TRENDS &amp; SEASONALITY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FDBFE"/>
                </a:solidFill>
                <a:latin typeface="Calibri"/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Volatile, no Q4 uplift — promotion effect muted</a:t>
            </a:r>
          </a:p>
        </p:txBody>
      </p:sp>
      <p:pic>
        <p:nvPicPr>
          <p:cNvPr id="6" name="Picture 5" descr="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30000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5166360"/>
            <a:ext cx="11430000" cy="1325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50" b="0">
                <a:solidFill>
                  <a:srgbClr val="0F172A"/>
                </a:solidFill>
                <a:latin typeface="Calibri"/>
              </a:defRPr>
            </a:pPr>
            <a:r>
              <a:t>PEAKS: Apr 2024 $24.4k (Electronics push) | Aug 2025 $23.7k | Jun 2026 $22.6k    TROUGHS: Feb 2026 $15.5k (-22%) | Nov 2024 $16.9k</a:t>
            </a:r>
            <a:br/>
            <a:r>
              <a:t>2025 avg $19.7k/mo vs 2024 $19.4k (+1.3% YoY) — growth within noise. Dec is below average → holiday discounts ineffective. Recommendation: Event-based campaigns, investigate Feb 2026 dip.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PRODUCT &amp; CUSTOMER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FDBFE"/>
                </a:solidFill>
                <a:latin typeface="Calibri"/>
              </a:defRPr>
            </a:pPr>
            <a:r>
              <a:t>06 / 10</a:t>
            </a:r>
          </a:p>
        </p:txBody>
      </p:sp>
      <p:pic>
        <p:nvPicPr>
          <p:cNvPr id="5" name="Picture 4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85800"/>
            <a:ext cx="6583680" cy="3383280"/>
          </a:xfrm>
          <a:prstGeom prst="rect">
            <a:avLst/>
          </a:prstGeom>
        </p:spPr>
      </p:pic>
      <p:pic>
        <p:nvPicPr>
          <p:cNvPr id="6" name="Picture 5" descr="ra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85800"/>
            <a:ext cx="4480560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4297680"/>
            <a:ext cx="65836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4297680"/>
            <a:ext cx="65836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50" b="0">
                <a:solidFill>
                  <a:srgbClr val="0F172A"/>
                </a:solidFill>
                <a:latin typeface="Calibri"/>
              </a:defRPr>
            </a:pPr>
            <a:r>
              <a:t>TOP SKU TAKEAWAYS:</a:t>
            </a:r>
            <a:br/>
            <a:r>
              <a:t>• Power Bank $56.5k, BT Speaker $55.3k, Smartwatch $51.4k — top 10 = 32% revenue</a:t>
            </a:r>
            <a:br/>
            <a:r>
              <a:t>• Long tail (~60 SKUs) moderate risk</a:t>
            </a:r>
            <a:br/>
            <a:r>
              <a:t>• Qty leaders (Blocks, Puzzle) ≠ revenue leaders → margin skew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297680"/>
            <a:ext cx="4480560" cy="155448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4297680"/>
            <a:ext cx="4480560" cy="155448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50" b="0">
                <a:solidFill>
                  <a:srgbClr val="0F172A"/>
                </a:solidFill>
                <a:latin typeface="Calibri"/>
              </a:defRPr>
            </a:pPr>
            <a:r>
              <a:t>RATING: Avg 3.90 (6,030 rated)</a:t>
            </a:r>
            <a:br/>
            <a:r>
              <a:t>• 74% give 4–5★, 13% give 1–2★</a:t>
            </a:r>
            <a:br/>
            <a:r>
              <a:t>• Returned avg ~3.1 vs Delivered 4.0</a:t>
            </a:r>
            <a:br/>
            <a:r>
              <a:t>• 50.5% unrated → nudge at Day 3/7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GEOGRAPHIC &amp; PAYMENT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FDBFE"/>
                </a:solidFill>
                <a:latin typeface="Calibri"/>
              </a:defRPr>
            </a:pPr>
            <a:r>
              <a:t>07 / 10</a:t>
            </a:r>
          </a:p>
        </p:txBody>
      </p:sp>
      <p:pic>
        <p:nvPicPr>
          <p:cNvPr id="5" name="Picture 4" descr="country_r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85800"/>
            <a:ext cx="5760720" cy="3383280"/>
          </a:xfrm>
          <a:prstGeom prst="rect">
            <a:avLst/>
          </a:prstGeom>
        </p:spPr>
      </p:pic>
      <p:pic>
        <p:nvPicPr>
          <p:cNvPr id="6" name="Picture 5" descr="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685800"/>
            <a:ext cx="5394960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4297680"/>
            <a:ext cx="576072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4297680"/>
            <a:ext cx="576072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50" b="0">
                <a:solidFill>
                  <a:srgbClr val="0F172A"/>
                </a:solidFill>
                <a:latin typeface="Calibri"/>
              </a:defRPr>
            </a:pPr>
            <a:r>
              <a:t>GEO: Evenly spread — UAE $215k→ AUS $192k (11% gap)</a:t>
            </a:r>
            <a:br/>
            <a:r>
              <a:t>• No dependency &gt;16%; 20+ cities &lt;6% each → multi-hub logistics</a:t>
            </a:r>
            <a:br/>
            <a:r>
              <a:t>• UAE AOV $145 (+23%) → replicate playbook in India/USA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97680"/>
            <a:ext cx="5394960" cy="1554480"/>
          </a:xfrm>
          <a:prstGeom prst="roundRect">
            <a:avLst/>
          </a:prstGeom>
          <a:solidFill>
            <a:srgbClr val="FFFBE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4297680"/>
            <a:ext cx="5394960" cy="1554480"/>
          </a:xfrm>
          <a:prstGeom prst="roundRect">
            <a:avLst/>
          </a:prstGeom>
          <a:solidFill>
            <a:srgbClr val="FFFBE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50" b="0">
                <a:solidFill>
                  <a:srgbClr val="0F172A"/>
                </a:solidFill>
                <a:latin typeface="Calibri"/>
              </a:defRPr>
            </a:pPr>
            <a:r>
              <a:t>PAYMENTS: COD 17.3% orders, PayPal $251k revenue crown</a:t>
            </a:r>
            <a:br/>
            <a:r>
              <a:t>• PayPal AOV $122 vs COD $113</a:t>
            </a:r>
            <a:br/>
            <a:r>
              <a:t>• UPI+Net Banking 33% → digital shift</a:t>
            </a:r>
            <a:br/>
            <a:r>
              <a:t>• Action: 2% prepaid incentive to cut COD returns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DISCOUNT &amp; ANOMALY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FDBFE"/>
                </a:solidFill>
                <a:latin typeface="Calibri"/>
              </a:defRPr>
            </a:pPr>
            <a:r>
              <a:t>08 / 10</a:t>
            </a:r>
          </a:p>
        </p:txBody>
      </p:sp>
      <p:pic>
        <p:nvPicPr>
          <p:cNvPr id="5" name="Picture 4" descr="dis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85800"/>
            <a:ext cx="5943600" cy="3291840"/>
          </a:xfrm>
          <a:prstGeom prst="rect">
            <a:avLst/>
          </a:prstGeom>
        </p:spPr>
      </p:pic>
      <p:pic>
        <p:nvPicPr>
          <p:cNvPr id="6" name="Picture 5" descr="quant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685800"/>
            <a:ext cx="521208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4206240"/>
            <a:ext cx="5943600" cy="1463040"/>
          </a:xfrm>
          <a:prstGeom prst="roundRect">
            <a:avLst/>
          </a:prstGeom>
          <a:solidFill>
            <a:srgbClr val="FDF2F8"/>
          </a:solidFill>
          <a:ln w="8890">
            <a:solidFill>
              <a:srgbClr val="EC7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4206240"/>
            <a:ext cx="5943600" cy="1463040"/>
          </a:xfrm>
          <a:prstGeom prst="roundRect">
            <a:avLst/>
          </a:prstGeom>
          <a:solidFill>
            <a:srgbClr val="FDF2F8"/>
          </a:solidFill>
          <a:ln w="8890">
            <a:solidFill>
              <a:srgbClr val="EC7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50" b="0">
                <a:solidFill>
                  <a:srgbClr val="0F172A"/>
                </a:solidFill>
                <a:latin typeface="Calibri"/>
              </a:defRPr>
            </a:pPr>
            <a:r>
              <a:t>DISCOUNT PARADOX: 0% → $128 avg, 21–25% → $88 avg (-31%)</a:t>
            </a:r>
            <a:br/>
            <a:r>
              <a:t>• 39.7% pay full price → willingness exists</a:t>
            </a:r>
            <a:br/>
            <a:r>
              <a:t>• Sweet spot 5–10% (~$115) | Cap &gt;15% needs approval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206240"/>
            <a:ext cx="5212080" cy="1463040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4206240"/>
            <a:ext cx="5212080" cy="1463040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50" b="0">
                <a:solidFill>
                  <a:srgbClr val="0F172A"/>
                </a:solidFill>
                <a:latin typeface="Calibri"/>
              </a:defRPr>
            </a:pPr>
            <a:r>
              <a:t>ANOMALIES &amp; GOVERNANCE:</a:t>
            </a:r>
            <a:br/>
            <a:r>
              <a:t>• Qty ≤0: 192 (176× -1, 16× 0)</a:t>
            </a:r>
            <a:br/>
            <a:r>
              <a:t>• Validate $250 USB-C cable / price outliers</a:t>
            </a:r>
            <a:br/>
            <a:r>
              <a:t>• Enforce ISO dates, required rating/city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FDBFE"/>
                </a:solidFill>
                <a:latin typeface="Calibri"/>
              </a:defRPr>
            </a:pPr>
            <a: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Prioritized Actions — Impact × Feasibility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3794760" cy="17830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563EB"/>
                </a:solidFill>
                <a:latin typeface="Calibri"/>
              </a:defRPr>
            </a:pPr>
            <a:r>
              <a:t>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Reduce Pending/Cancelled/Returned</a:t>
            </a:r>
            <a:br/>
            <a:r>
              <a:t>to &lt;15% (from 29.9%)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+$180k /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794760" cy="17830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371600"/>
            <a:ext cx="54864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563EB"/>
                </a:solidFill>
                <a:latin typeface="Calibri"/>
              </a:defRPr>
            </a:pPr>
            <a:r>
              <a:t>MKT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3736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Cap discounts at 10%</a:t>
            </a:r>
            <a:br/>
            <a:r>
              <a:t>A/B 0% vs 5% on Electronics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688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+$45k margin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234440"/>
            <a:ext cx="3794760" cy="1783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1371600"/>
            <a:ext cx="5486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E0B"/>
                </a:solidFill>
                <a:latin typeface="Calibri"/>
              </a:defRPr>
            </a:pPr>
            <a:r>
              <a:t>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73736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COD → Prepaid migration</a:t>
            </a:r>
            <a:br/>
            <a:r>
              <a:t>2% incentive +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4688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-1.5pp returns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246120"/>
            <a:ext cx="3794760" cy="17830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83280"/>
            <a:ext cx="5486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E0B"/>
                </a:solidFill>
                <a:latin typeface="Calibri"/>
              </a:defRPr>
            </a:pPr>
            <a:r>
              <a:t>MERCH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490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Hero SKU safety stock</a:t>
            </a:r>
            <a:br/>
            <a:r>
              <a:t>Power Bank / BT Speaker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4805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 +3% uptime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246120"/>
            <a:ext cx="379476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80560" y="3383280"/>
            <a:ext cx="548640" cy="27432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  <a:latin typeface="Calibri"/>
              </a:defRPr>
            </a:pPr>
            <a:r>
              <a:t>CX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7490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Rating nudge Day 3 &amp; 7</a:t>
            </a:r>
            <a:br/>
            <a:r>
              <a:t>49.5% → 70%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4805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NPS lift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246120"/>
            <a:ext cx="379476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58200" y="3383280"/>
            <a:ext cx="548640" cy="27432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7490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  <a:latin typeface="Calibri"/>
              </a:defRPr>
            </a:pPr>
            <a:r>
              <a:t>UAE playbook → India/USA</a:t>
            </a:r>
            <a:br/>
            <a:r>
              <a:t>Premium bundle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4805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+$25k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486400"/>
            <a:ext cx="11430000" cy="77724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5760" y="5486400"/>
            <a:ext cx="11430000" cy="777240"/>
          </a:xfrm>
          <a:prstGeom prst="roundRect">
            <a:avLst/>
          </a:prstGeom>
          <a:solidFill>
            <a:srgbClr val="F0FDF4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F172A"/>
                </a:solidFill>
                <a:latin typeface="Calibri"/>
              </a:defRPr>
            </a:pPr>
            <a:r>
              <a:t>QUICK WIN (30 days): Freeze &gt;15% discounts + daily Pending review stand-up. Expected +$15k in month 1 with zero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APPENDIX — METHODOLOGY &amp; DATA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FDBFE"/>
                </a:solidFill>
                <a:latin typeface="Calibri"/>
              </a:defRPr>
            </a:pPr>
            <a:r>
              <a:t>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5852160" cy="5486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8A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F172A"/>
                </a:solidFill>
                <a:latin typeface="Calibri"/>
              </a:defRPr>
            </a:pPr>
            <a:r>
              <a:t>• Tools: Python (pandas, matplotlib, python-pptx, ReportLab)</a:t>
            </a:r>
            <a:br/>
            <a:r>
              <a:t>• Date parsing: pd.to_datetime (infer + dayfirst fallback), NaT=0</a:t>
            </a:r>
            <a:br/>
            <a:r>
              <a:t>• Revenue: Net = Qty×Price×(1–Discount%), Gross = Qty×Price</a:t>
            </a:r>
            <a:br/>
            <a:r>
              <a:t>• Invalid Qty (≤0): Revenue 0 for KPIs, retained in anomaly chart</a:t>
            </a:r>
            <a:br/>
            <a:r>
              <a:t>• Normalizations: Payment 12→6, Country 20→7+Unknown, Status 5</a:t>
            </a:r>
            <a:br/>
            <a:r>
              <a:t>• Coverage: 12,180 rows; 11,988 valid for revenue; 6,030 ratings</a:t>
            </a:r>
            <a:br/>
            <a:r>
              <a:t>• Limitations: No COGS/cost, no tax/shipping, no LTV cohort</a:t>
            </a:r>
            <a:br/>
            <a:r>
              <a:t>• Reproducibility: All charts PNG + summary.json in report_assets</a:t>
            </a:r>
            <a:br/>
            <a:r>
              <a:t>• Files: Cleaned CSV = 31 cols, Data_Quality_Flag per 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685800"/>
            <a:ext cx="5303520" cy="5486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777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3A8A"/>
                </a:solidFill>
                <a:latin typeface="Calibri"/>
              </a:defRPr>
            </a:pPr>
            <a:r>
              <a:t>CLEANED DATASET — 31 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0972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0F172A"/>
                </a:solidFill>
                <a:latin typeface="Calibri"/>
              </a:defRPr>
            </a:pPr>
            <a:r>
              <a:t>Order_ID, Customer_ID, Order_Date (orig), Order_Date_ISO,</a:t>
            </a:r>
            <a:br/>
            <a:r>
              <a:t>Order_Date_Parsed, Order_Year, Order_Month, YearMonth,</a:t>
            </a:r>
            <a:br/>
            <a:r>
              <a:t>Product_Category / _Clean, Product_Name, Quantity,</a:t>
            </a:r>
            <a:br/>
            <a:r>
              <a:t>Is_Valid_Qty (bool), Unit_Price_USD, Discount_%,</a:t>
            </a:r>
            <a:br/>
            <a:r>
              <a:t>Discount_Clean, Gross_USD, Discount_Amount, Net_Revenue_USD,</a:t>
            </a:r>
            <a:br/>
            <a:r>
              <a:t>Payment_Method / _Clean, Shipping_City / _Clean,</a:t>
            </a:r>
            <a:br/>
            <a:r>
              <a:t>Country / _Clean, Order_Status / _Clean, Customer_Rating,</a:t>
            </a:r>
            <a:br/>
            <a:r>
              <a:t>Has_Rating (bool), Data_Quality_Flag (OK / codes)</a:t>
            </a:r>
            <a:br/>
            <a:br/>
            <a:r>
              <a:t>Flags: InvalidQty; MissingDiscount(0); MissingRating;</a:t>
            </a:r>
            <a:br/>
            <a:r>
              <a:t>MissingCity;  Example: "InvalidQty;MissingRating"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577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0B981"/>
                </a:solidFill>
                <a:latin typeface="Calibri"/>
              </a:defRPr>
            </a:pPr>
            <a:r>
              <a:t>File: Ecommerce_Retail_Transactions_CLEANED.csv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6309360"/>
            <a:ext cx="1143000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55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Prepared by Analytics Team  •  Next Review 30 Sep 2026  •  Confidential —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